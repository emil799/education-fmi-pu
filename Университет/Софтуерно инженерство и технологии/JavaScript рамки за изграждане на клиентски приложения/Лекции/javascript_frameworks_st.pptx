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bg-BG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3115677ac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3d3115677ac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3115677ac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g3d3115677ac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3115677ac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3d3115677ac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3115677ac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g3d3115677ac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3115677ac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g3d3115677ac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3115677ac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3d3115677ac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3115677ac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g3d3115677ac_0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3115677ac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d3115677ac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3115677ac_0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3d3115677ac_0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3115677ac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3d3115677ac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3115677ac_0_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3d3115677ac_0_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3115677ac_0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g3d3115677ac_0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3115677ac_0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d3115677ac_0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3115677ac_0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g3d3115677ac_0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3115677ac_0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d3115677ac_0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3115677ac_0_1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g3d3115677ac_0_1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3115677ac_0_1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g3d3115677ac_0_1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31393f21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g3d31393f21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31393f216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3d31393f216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31393f216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g3d31393f216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774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307206"/>
            <a:ext cx="10515600" cy="4869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>
                <a:solidFill>
                  <a:srgbClr val="595959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774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774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774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661121" y="-1515715"/>
            <a:ext cx="4869757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774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307206"/>
            <a:ext cx="10515600" cy="4869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230529" y="6285395"/>
            <a:ext cx="1578953" cy="439578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ransition spd="med">
    <p:push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1439333" y="1884344"/>
            <a:ext cx="8823243" cy="14810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b="1" lang="bg-BG" sz="4800"/>
              <a:t>JavaScript рамки за изграждане на клиентски приложения</a:t>
            </a:r>
            <a:endParaRPr b="1" sz="4800">
              <a:solidFill>
                <a:schemeClr val="accent1"/>
              </a:solidFill>
            </a:endParaRPr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1507067" y="3542453"/>
            <a:ext cx="7766936" cy="934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</a:pPr>
            <a:r>
              <a:rPr lang="bg-BG"/>
              <a:t>История, основни понятия и начин на работа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0" name="Google Shape;9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838200" y="365125"/>
            <a:ext cx="10515600" cy="774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bg-BG"/>
              <a:t>История</a:t>
            </a:r>
            <a:endParaRPr/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1038450" y="3349325"/>
            <a:ext cx="10115100" cy="30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bg-BG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Началото (jQuery, MPA)</a:t>
            </a:r>
            <a:endParaRPr b="1"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MPA (Multi-Page Application) - всяка навигация презарежда страницата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jQuery - манипулация на DOM и събития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Логиката е основно на сървъра</a:t>
            </a:r>
            <a:endParaRPr sz="3800">
              <a:solidFill>
                <a:schemeClr val="dk1"/>
              </a:solidFill>
            </a:endParaRPr>
          </a:p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pic>
        <p:nvPicPr>
          <p:cNvPr id="98" name="Google Shape;9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438275"/>
            <a:ext cx="10650501" cy="138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838200" y="365125"/>
            <a:ext cx="105156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bg-BG"/>
              <a:t>Видове приложения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965750" y="1368325"/>
            <a:ext cx="10115100" cy="23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 (AngularJS, Backbone)</a:t>
            </a:r>
            <a:endParaRPr b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 (Single Page Application) - зарежда се веднъж, след това се обновява динамично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AngularJS, Backbone.js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Клиентът поема контрола върху UI и навигацията </a:t>
            </a:r>
            <a:endParaRPr b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sp>
        <p:nvSpPr>
          <p:cNvPr id="106" name="Google Shape;106;p15"/>
          <p:cNvSpPr txBox="1"/>
          <p:nvPr>
            <p:ph idx="1" type="body"/>
          </p:nvPr>
        </p:nvSpPr>
        <p:spPr>
          <a:xfrm>
            <a:off x="1038450" y="3976638"/>
            <a:ext cx="10115100" cy="23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Компонентна архитектура (React, Vue, Angular)</a:t>
            </a:r>
            <a:endParaRPr b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UI се изгражда от компоненти (повторно използваеми части)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React, Vue.js, Angular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Въвеждат се concepts като state, props, lifecycle</a:t>
            </a:r>
            <a:endParaRPr b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838200" y="365125"/>
            <a:ext cx="105156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bg-BG"/>
              <a:t>Видове приложения</a:t>
            </a:r>
            <a:endParaRPr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965750" y="1368325"/>
            <a:ext cx="10115100" cy="23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Модерни подходи (SSR, ISR, Universal)</a:t>
            </a:r>
            <a:endParaRPr b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SSR (Server-Side Rendering) - HTML се генерира на сървъра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ISR (Incremental Static Regeneration) - статични страници с обновяване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Universal apps - комбинация от SSR + SPA (hydration)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Next.js, Nuxt.js</a:t>
            </a:r>
            <a:endParaRPr b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838200" y="365125"/>
            <a:ext cx="105156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bg-BG"/>
              <a:t>Стандартна фронтенд архитектура</a:t>
            </a:r>
            <a:endParaRPr/>
          </a:p>
        </p:txBody>
      </p:sp>
      <p:sp>
        <p:nvSpPr>
          <p:cNvPr id="119" name="Google Shape;119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pic>
        <p:nvPicPr>
          <p:cNvPr id="120" name="Google Shape;12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875" y="1139725"/>
            <a:ext cx="6977755" cy="5413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838200" y="365125"/>
            <a:ext cx="105156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bg-BG"/>
              <a:t>Слоеве в архитектурата</a:t>
            </a:r>
            <a:endParaRPr/>
          </a:p>
        </p:txBody>
      </p:sp>
      <p:sp>
        <p:nvSpPr>
          <p:cNvPr id="126" name="Google Shape;126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sp>
        <p:nvSpPr>
          <p:cNvPr id="127" name="Google Shape;127;p18"/>
          <p:cNvSpPr txBox="1"/>
          <p:nvPr>
            <p:ph idx="1" type="body"/>
          </p:nvPr>
        </p:nvSpPr>
        <p:spPr>
          <a:xfrm>
            <a:off x="965750" y="1368325"/>
            <a:ext cx="10115100" cy="23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UI Layer (Потребителски интерфейс)</a:t>
            </a:r>
            <a:endParaRPr b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Отговаря за визуализацията и взаимодействието с потребителя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Съдържа компоненти, шаблони и локално състояние (UI state)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Получава данни от State слоя и ги представя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Изпраща действия (events) към приложението </a:t>
            </a:r>
            <a:endParaRPr b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838200" y="365125"/>
            <a:ext cx="105156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bg-BG"/>
              <a:t>Слоеве в архитектурата</a:t>
            </a:r>
            <a:endParaRPr/>
          </a:p>
        </p:txBody>
      </p:sp>
      <p:sp>
        <p:nvSpPr>
          <p:cNvPr id="133" name="Google Shape;133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sp>
        <p:nvSpPr>
          <p:cNvPr id="134" name="Google Shape;134;p19"/>
          <p:cNvSpPr txBox="1"/>
          <p:nvPr>
            <p:ph idx="1" type="body"/>
          </p:nvPr>
        </p:nvSpPr>
        <p:spPr>
          <a:xfrm>
            <a:off x="965750" y="1368325"/>
            <a:ext cx="10115100" cy="23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 Layer (Слой на състоянието)</a:t>
            </a:r>
            <a:endParaRPr b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Съхранява текущото състояние на приложението (app state)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Единен източник на истина за данните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Предоставя данни към UI слоя и уведомява при промени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Поддържа derived state и синхронизация между части на приложението</a:t>
            </a:r>
            <a:endParaRPr b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838200" y="365125"/>
            <a:ext cx="105156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bg-BG"/>
              <a:t>Слоеве в архитектурата</a:t>
            </a:r>
            <a:endParaRPr/>
          </a:p>
        </p:txBody>
      </p:sp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965750" y="1368325"/>
            <a:ext cx="10115100" cy="23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 Layer (Слой на логиката)</a:t>
            </a:r>
            <a:endParaRPr b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Съдържа бизнес логиката и правилата на приложението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Обработва действия от UI (потребителски събития)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Взима решения и определя как се променя състоянието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Оркестрира комуникацията между State и Data слоя</a:t>
            </a:r>
            <a:endParaRPr b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838200" y="365125"/>
            <a:ext cx="105156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bg-BG"/>
              <a:t>Слоеве в архитектурата</a:t>
            </a:r>
            <a:endParaRPr/>
          </a:p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965750" y="1368325"/>
            <a:ext cx="10115100" cy="23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Layer (Слой за данни)</a:t>
            </a:r>
            <a:endParaRPr b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Комуникира с външни системи (API, база данни)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Извършва заявки и обработва отговори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Връща резултати към логическия слой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Изолира приложението от детайлите на сървърната част</a:t>
            </a:r>
            <a:endParaRPr b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838200" y="365125"/>
            <a:ext cx="105156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bg-BG"/>
              <a:t>Рутиране</a:t>
            </a:r>
            <a:endParaRPr/>
          </a:p>
        </p:txBody>
      </p:sp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sp>
        <p:nvSpPr>
          <p:cNvPr id="155" name="Google Shape;155;p22"/>
          <p:cNvSpPr txBox="1"/>
          <p:nvPr>
            <p:ph idx="1" type="body"/>
          </p:nvPr>
        </p:nvSpPr>
        <p:spPr>
          <a:xfrm>
            <a:off x="956700" y="3181750"/>
            <a:ext cx="11226300" cy="18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Структура на URL</a:t>
            </a:r>
            <a:endParaRPr b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bg-BG" sz="2400">
                <a:solidFill>
                  <a:schemeClr val="dk2"/>
                </a:solidFill>
              </a:rPr>
            </a:br>
            <a:r>
              <a:rPr lang="bg-BG" sz="2400">
                <a:solidFill>
                  <a:schemeClr val="dk2"/>
                </a:solidFill>
              </a:rPr>
              <a:t>протокол://[потребител[:парола]@]сървър[:порт][/път[?параметри][#фрагмент]]</a:t>
            </a:r>
            <a:br>
              <a:rPr lang="bg-BG" sz="2400">
                <a:solidFill>
                  <a:schemeClr val="dk2"/>
                </a:solidFill>
              </a:rPr>
            </a:br>
            <a:r>
              <a:rPr lang="bg-BG" sz="2400">
                <a:solidFill>
                  <a:schemeClr val="dk1"/>
                </a:solidFill>
              </a:rPr>
              <a:t>https://www.example.com/docs/file.html?id=123&amp;lang=bg</a:t>
            </a:r>
            <a:endParaRPr b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956700" y="1575150"/>
            <a:ext cx="102786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Свързва URL с конкретно съдържание (страница / компонент)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Управлява навигацията в приложението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type="title"/>
          </p:nvPr>
        </p:nvSpPr>
        <p:spPr>
          <a:xfrm>
            <a:off x="838200" y="365125"/>
            <a:ext cx="105156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bg-BG"/>
              <a:t>Рутиране</a:t>
            </a:r>
            <a:endParaRPr/>
          </a:p>
        </p:txBody>
      </p:sp>
      <p:sp>
        <p:nvSpPr>
          <p:cNvPr id="162" name="Google Shape;162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sp>
        <p:nvSpPr>
          <p:cNvPr id="163" name="Google Shape;163;p23"/>
          <p:cNvSpPr txBox="1"/>
          <p:nvPr>
            <p:ph idx="1" type="body"/>
          </p:nvPr>
        </p:nvSpPr>
        <p:spPr>
          <a:xfrm>
            <a:off x="965700" y="1412725"/>
            <a:ext cx="11226300" cy="18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MPA (Multi-Page Application)</a:t>
            </a:r>
            <a:endParaRPr b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Всеки URL → заявка към сървъра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Връща се нов HTML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Пълно презареждане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 (Single Page Application)</a:t>
            </a:r>
            <a:endParaRPr b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Навигацията се управлява от JavaScript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Смяна на компоненти без презареждане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По-бързо и плавно потребителско изживяване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title"/>
          </p:nvPr>
        </p:nvSpPr>
        <p:spPr>
          <a:xfrm>
            <a:off x="838200" y="365125"/>
            <a:ext cx="105156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bg-BG"/>
              <a:t>Рутиране</a:t>
            </a:r>
            <a:endParaRPr/>
          </a:p>
        </p:txBody>
      </p:sp>
      <p:sp>
        <p:nvSpPr>
          <p:cNvPr id="169" name="Google Shape;169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sp>
        <p:nvSpPr>
          <p:cNvPr id="170" name="Google Shape;170;p24"/>
          <p:cNvSpPr txBox="1"/>
          <p:nvPr>
            <p:ph idx="1" type="body"/>
          </p:nvPr>
        </p:nvSpPr>
        <p:spPr>
          <a:xfrm>
            <a:off x="965700" y="1412725"/>
            <a:ext cx="11226300" cy="45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Router</a:t>
            </a:r>
            <a:endParaRPr b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Свързва URL с компонент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Управлява history (back/forward)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Как работи (SPA)</a:t>
            </a:r>
            <a:endParaRPr b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Промяна на URL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Router избира компонент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UI се обновява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Ключова идея</a:t>
            </a:r>
            <a:endParaRPr b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bg-BG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URL описва състоянието на приложението</a:t>
            </a:r>
            <a:endParaRPr b="1"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/>
          <p:nvPr>
            <p:ph type="title"/>
          </p:nvPr>
        </p:nvSpPr>
        <p:spPr>
          <a:xfrm>
            <a:off x="838200" y="365125"/>
            <a:ext cx="105156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bg-BG"/>
              <a:t>Компонент</a:t>
            </a:r>
            <a:endParaRPr/>
          </a:p>
        </p:txBody>
      </p:sp>
      <p:sp>
        <p:nvSpPr>
          <p:cNvPr id="176" name="Google Shape;176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pic>
        <p:nvPicPr>
          <p:cNvPr id="177" name="Google Shape;17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3975" y="942875"/>
            <a:ext cx="6817547" cy="5413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>
            <p:ph type="title"/>
          </p:nvPr>
        </p:nvSpPr>
        <p:spPr>
          <a:xfrm>
            <a:off x="838200" y="365125"/>
            <a:ext cx="105156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bg-BG"/>
              <a:t>Компонент</a:t>
            </a:r>
            <a:endParaRPr/>
          </a:p>
        </p:txBody>
      </p:sp>
      <p:sp>
        <p:nvSpPr>
          <p:cNvPr id="183" name="Google Shape;183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sp>
        <p:nvSpPr>
          <p:cNvPr id="184" name="Google Shape;184;p26"/>
          <p:cNvSpPr txBox="1"/>
          <p:nvPr/>
        </p:nvSpPr>
        <p:spPr>
          <a:xfrm>
            <a:off x="1000950" y="1587300"/>
            <a:ext cx="9317700" cy="4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bg-BG" sz="2100">
                <a:solidFill>
                  <a:schemeClr val="dk1"/>
                </a:solidFill>
              </a:rPr>
              <a:t>Template (шаблон)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Описва как изглежда компонентът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Съдържа HTML структура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Показва данни към потребителя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bg-BG" sz="2100">
                <a:solidFill>
                  <a:schemeClr val="dk1"/>
                </a:solidFill>
              </a:rPr>
              <a:t>Logic (логика)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Управлява поведението на компонента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Обработва събития (click, input)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Работи със state и данни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title"/>
          </p:nvPr>
        </p:nvSpPr>
        <p:spPr>
          <a:xfrm>
            <a:off x="838200" y="365125"/>
            <a:ext cx="105156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bg-BG"/>
              <a:t>Компонент</a:t>
            </a:r>
            <a:endParaRPr/>
          </a:p>
        </p:txBody>
      </p:sp>
      <p:sp>
        <p:nvSpPr>
          <p:cNvPr id="190" name="Google Shape;190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sp>
        <p:nvSpPr>
          <p:cNvPr id="191" name="Google Shape;191;p27"/>
          <p:cNvSpPr txBox="1"/>
          <p:nvPr/>
        </p:nvSpPr>
        <p:spPr>
          <a:xfrm>
            <a:off x="1000950" y="1587300"/>
            <a:ext cx="9317700" cy="4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bg-BG" sz="2100">
                <a:solidFill>
                  <a:schemeClr val="dk1"/>
                </a:solidFill>
              </a:rPr>
              <a:t>CSS (стилове)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Определя външния вид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Цветове, размери, разположение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Може да бъде локален за компонента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bg-BG" sz="2100">
                <a:solidFill>
                  <a:schemeClr val="dk1"/>
                </a:solidFill>
              </a:rPr>
              <a:t>Как работят заедно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Template показва данните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Logic ги управлява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CSS оформя визията</a:t>
            </a:r>
            <a:endParaRPr b="1"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>
            <p:ph type="title"/>
          </p:nvPr>
        </p:nvSpPr>
        <p:spPr>
          <a:xfrm>
            <a:off x="838200" y="365125"/>
            <a:ext cx="105156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bg-BG"/>
              <a:t>Примерна йерархия на компоненти</a:t>
            </a:r>
            <a:endParaRPr/>
          </a:p>
        </p:txBody>
      </p:sp>
      <p:sp>
        <p:nvSpPr>
          <p:cNvPr id="197" name="Google Shape;197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pic>
        <p:nvPicPr>
          <p:cNvPr id="198" name="Google Shape;1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5113" y="1139725"/>
            <a:ext cx="5761771" cy="5413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>
            <p:ph type="title"/>
          </p:nvPr>
        </p:nvSpPr>
        <p:spPr>
          <a:xfrm>
            <a:off x="838200" y="365125"/>
            <a:ext cx="105156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bg-BG"/>
              <a:t>Терминология: Структура на компонентите</a:t>
            </a:r>
            <a:endParaRPr/>
          </a:p>
        </p:txBody>
      </p:sp>
      <p:sp>
        <p:nvSpPr>
          <p:cNvPr id="204" name="Google Shape;204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sp>
        <p:nvSpPr>
          <p:cNvPr id="205" name="Google Shape;205;p29"/>
          <p:cNvSpPr txBox="1"/>
          <p:nvPr/>
        </p:nvSpPr>
        <p:spPr>
          <a:xfrm>
            <a:off x="1090500" y="1599400"/>
            <a:ext cx="9923400" cy="4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bg-BG" sz="2100">
                <a:solidFill>
                  <a:schemeClr val="dk1"/>
                </a:solidFill>
              </a:rPr>
              <a:t>Pages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Представляват цели екрани (route-level)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Свързани са с URL (routing)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Композират layouts и features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bg-BG" sz="2100">
                <a:solidFill>
                  <a:schemeClr val="dk1"/>
                </a:solidFill>
              </a:rPr>
              <a:t>Layouts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Дефинират общата структура (header, sidebar, content)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Използват се от много страници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Осигуряват консистентен UI 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/>
          <p:nvPr>
            <p:ph type="title"/>
          </p:nvPr>
        </p:nvSpPr>
        <p:spPr>
          <a:xfrm>
            <a:off x="838200" y="365125"/>
            <a:ext cx="105156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bg-BG"/>
              <a:t>Терминология: Структура на компонентите</a:t>
            </a:r>
            <a:endParaRPr/>
          </a:p>
        </p:txBody>
      </p:sp>
      <p:sp>
        <p:nvSpPr>
          <p:cNvPr id="211" name="Google Shape;211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sp>
        <p:nvSpPr>
          <p:cNvPr id="212" name="Google Shape;212;p30"/>
          <p:cNvSpPr txBox="1"/>
          <p:nvPr/>
        </p:nvSpPr>
        <p:spPr>
          <a:xfrm>
            <a:off x="1090500" y="1659975"/>
            <a:ext cx="9923400" cy="4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bg-BG" sz="2100">
                <a:solidFill>
                  <a:schemeClr val="dk1"/>
                </a:solidFill>
              </a:rPr>
              <a:t>Features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Реализират конкретна функционалност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Съдържат бизнес логика + UI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Съставени са от widgets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bg-BG" sz="2100">
                <a:solidFill>
                  <a:schemeClr val="dk1"/>
                </a:solidFill>
              </a:rPr>
              <a:t>Widgets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По-големи UI блокове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Комбинират няколко компонента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Преизползваеми в различни features</a:t>
            </a:r>
            <a:endParaRPr b="1"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>
            <p:ph type="title"/>
          </p:nvPr>
        </p:nvSpPr>
        <p:spPr>
          <a:xfrm>
            <a:off x="838200" y="365125"/>
            <a:ext cx="105156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bg-BG"/>
              <a:t>Терминология: Структура на компонентите</a:t>
            </a:r>
            <a:endParaRPr/>
          </a:p>
        </p:txBody>
      </p:sp>
      <p:sp>
        <p:nvSpPr>
          <p:cNvPr id="218" name="Google Shape;218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sp>
        <p:nvSpPr>
          <p:cNvPr id="219" name="Google Shape;219;p31"/>
          <p:cNvSpPr txBox="1"/>
          <p:nvPr/>
        </p:nvSpPr>
        <p:spPr>
          <a:xfrm>
            <a:off x="1090500" y="1659975"/>
            <a:ext cx="9923400" cy="40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bg-BG" sz="2100">
                <a:solidFill>
                  <a:schemeClr val="dk1"/>
                </a:solidFill>
              </a:rPr>
              <a:t>Components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Най-малки UI елементи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Преизползваеми и независими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Нямат бизнес логика (или минимална)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bg-BG" sz="2100">
                <a:solidFill>
                  <a:schemeClr val="dk1"/>
                </a:solidFill>
              </a:rPr>
              <a:t> Как се композират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Pages използват Layouts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Layouts използват Features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Features използват Widgets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bg-BG" sz="2100">
                <a:solidFill>
                  <a:schemeClr val="dk1"/>
                </a:solidFill>
              </a:rPr>
              <a:t>Widgets използват Components</a:t>
            </a:r>
            <a:endParaRPr b="1"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/>
          <p:nvPr>
            <p:ph type="title"/>
          </p:nvPr>
        </p:nvSpPr>
        <p:spPr>
          <a:xfrm>
            <a:off x="838200" y="365125"/>
            <a:ext cx="105156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bg-BG"/>
              <a:t>Структура на компоненти (React, Vue, Angular)</a:t>
            </a:r>
            <a:endParaRPr/>
          </a:p>
        </p:txBody>
      </p:sp>
      <p:sp>
        <p:nvSpPr>
          <p:cNvPr id="225" name="Google Shape;225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pic>
        <p:nvPicPr>
          <p:cNvPr id="226" name="Google Shape;22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450" y="1292125"/>
            <a:ext cx="10695102" cy="491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3"/>
          <p:cNvSpPr txBox="1"/>
          <p:nvPr>
            <p:ph type="title"/>
          </p:nvPr>
        </p:nvSpPr>
        <p:spPr>
          <a:xfrm>
            <a:off x="838200" y="365125"/>
            <a:ext cx="105156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bg-BG"/>
              <a:t>Жизнен цикъл на компонент</a:t>
            </a:r>
            <a:endParaRPr/>
          </a:p>
        </p:txBody>
      </p:sp>
      <p:sp>
        <p:nvSpPr>
          <p:cNvPr id="232" name="Google Shape;232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pic>
        <p:nvPicPr>
          <p:cNvPr id="233" name="Google Shape;23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3100" y="1231550"/>
            <a:ext cx="2325790" cy="5413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 txBox="1"/>
          <p:nvPr>
            <p:ph type="title"/>
          </p:nvPr>
        </p:nvSpPr>
        <p:spPr>
          <a:xfrm>
            <a:off x="838200" y="365125"/>
            <a:ext cx="105156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bg-BG"/>
              <a:t>Жизнен цикъл на компонентите (Generic, React, Vue, Angular)</a:t>
            </a:r>
            <a:endParaRPr/>
          </a:p>
        </p:txBody>
      </p:sp>
      <p:sp>
        <p:nvSpPr>
          <p:cNvPr id="239" name="Google Shape;239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bg-BG"/>
              <a:t>‹#›</a:t>
            </a:fld>
            <a:endParaRPr/>
          </a:p>
        </p:txBody>
      </p:sp>
      <p:pic>
        <p:nvPicPr>
          <p:cNvPr id="240" name="Google Shape;24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900" y="1049775"/>
            <a:ext cx="10716200" cy="524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