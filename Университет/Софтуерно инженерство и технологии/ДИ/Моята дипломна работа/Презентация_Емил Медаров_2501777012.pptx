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9" r:id="rId4"/>
    <p:sldId id="270" r:id="rId5"/>
    <p:sldId id="271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DA73-87B2-49CF-9163-73FCB9BEFC10}" type="datetimeFigureOut">
              <a:rPr lang="bg-BG" smtClean="0"/>
              <a:t>24.9.2026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7CE7-4647-4A95-92D3-A88CE90DE90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40679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DA73-87B2-49CF-9163-73FCB9BEFC10}" type="datetimeFigureOut">
              <a:rPr lang="bg-BG" smtClean="0"/>
              <a:t>24.9.2026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7CE7-4647-4A95-92D3-A88CE90DE90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42303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DA73-87B2-49CF-9163-73FCB9BEFC10}" type="datetimeFigureOut">
              <a:rPr lang="bg-BG" smtClean="0"/>
              <a:t>24.9.2026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7CE7-4647-4A95-92D3-A88CE90DE90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84642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DA73-87B2-49CF-9163-73FCB9BEFC10}" type="datetimeFigureOut">
              <a:rPr lang="bg-BG" smtClean="0"/>
              <a:t>24.9.2026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7CE7-4647-4A95-92D3-A88CE90DE90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8105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DA73-87B2-49CF-9163-73FCB9BEFC10}" type="datetimeFigureOut">
              <a:rPr lang="bg-BG" smtClean="0"/>
              <a:t>24.9.2026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7CE7-4647-4A95-92D3-A88CE90DE90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5941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DA73-87B2-49CF-9163-73FCB9BEFC10}" type="datetimeFigureOut">
              <a:rPr lang="bg-BG" smtClean="0"/>
              <a:t>24.9.2026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7CE7-4647-4A95-92D3-A88CE90DE90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7793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DA73-87B2-49CF-9163-73FCB9BEFC10}" type="datetimeFigureOut">
              <a:rPr lang="bg-BG" smtClean="0"/>
              <a:t>24.9.2026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7CE7-4647-4A95-92D3-A88CE90DE90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11425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DA73-87B2-49CF-9163-73FCB9BEFC10}" type="datetimeFigureOut">
              <a:rPr lang="bg-BG" smtClean="0"/>
              <a:t>24.9.2026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7CE7-4647-4A95-92D3-A88CE90DE90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573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DA73-87B2-49CF-9163-73FCB9BEFC10}" type="datetimeFigureOut">
              <a:rPr lang="bg-BG" smtClean="0"/>
              <a:t>24.9.2026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7CE7-4647-4A95-92D3-A88CE90DE90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6307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DA73-87B2-49CF-9163-73FCB9BEFC10}" type="datetimeFigureOut">
              <a:rPr lang="bg-BG" smtClean="0"/>
              <a:t>24.9.2026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7CE7-4647-4A95-92D3-A88CE90DE90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47543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DA73-87B2-49CF-9163-73FCB9BEFC10}" type="datetimeFigureOut">
              <a:rPr lang="bg-BG" smtClean="0"/>
              <a:t>24.9.2026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7CE7-4647-4A95-92D3-A88CE90DE907}" type="slidenum">
              <a:rPr lang="bg-BG" smtClean="0"/>
              <a:t>‹#›</a:t>
            </a:fld>
            <a:endParaRPr lang="bg-BG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4400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DA73-87B2-49CF-9163-73FCB9BEFC10}" type="datetimeFigureOut">
              <a:rPr lang="bg-BG" smtClean="0"/>
              <a:t>24.9.2026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7CE7-4647-4A95-92D3-A88CE90DE90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37808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 на цита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DA73-87B2-49CF-9163-73FCB9BEFC10}" type="datetimeFigureOut">
              <a:rPr lang="bg-BG" smtClean="0"/>
              <a:t>24.9.2026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7CE7-4647-4A95-92D3-A88CE90DE907}" type="slidenum">
              <a:rPr lang="bg-BG" smtClean="0"/>
              <a:t>‹#›</a:t>
            </a:fld>
            <a:endParaRPr lang="bg-BG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3110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или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DA73-87B2-49CF-9163-73FCB9BEFC10}" type="datetimeFigureOut">
              <a:rPr lang="bg-BG" smtClean="0"/>
              <a:t>24.9.2026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7CE7-4647-4A95-92D3-A88CE90DE90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80345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DA73-87B2-49CF-9163-73FCB9BEFC10}" type="datetimeFigureOut">
              <a:rPr lang="bg-BG" smtClean="0"/>
              <a:t>24.9.2026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7CE7-4647-4A95-92D3-A88CE90DE90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25783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DA73-87B2-49CF-9163-73FCB9BEFC10}" type="datetimeFigureOut">
              <a:rPr lang="bg-BG" smtClean="0"/>
              <a:t>24.9.2026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7CE7-4647-4A95-92D3-A88CE90DE90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64224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BDA73-87B2-49CF-9163-73FCB9BEFC10}" type="datetimeFigureOut">
              <a:rPr lang="bg-BG" smtClean="0"/>
              <a:t>24.9.2026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7A57CE7-4647-4A95-92D3-A88CE90DE90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7956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D5B7BCB-ED83-58B7-80F6-A27B87AFB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71" y="1209368"/>
            <a:ext cx="7325032" cy="2841468"/>
          </a:xfrm>
        </p:spPr>
        <p:txBody>
          <a:bodyPr/>
          <a:lstStyle/>
          <a:p>
            <a:r>
              <a:rPr lang="ru-RU" sz="3300" spc="-300" dirty="0" err="1"/>
              <a:t>Мобилно</a:t>
            </a:r>
            <a:r>
              <a:rPr lang="ru-RU" sz="3300" spc="-300" dirty="0"/>
              <a:t> приложение за </a:t>
            </a:r>
            <a:r>
              <a:rPr lang="ru-RU" sz="3300" spc="-300" dirty="0" err="1"/>
              <a:t>по-добра</a:t>
            </a:r>
            <a:r>
              <a:rPr lang="ru-RU" sz="3300" spc="-300" dirty="0"/>
              <a:t> </a:t>
            </a:r>
            <a:r>
              <a:rPr lang="ru-RU" sz="3300" spc="-300" dirty="0" err="1"/>
              <a:t>oрганизираност</a:t>
            </a:r>
            <a:r>
              <a:rPr lang="ru-RU" sz="3300" spc="-300" dirty="0"/>
              <a:t> чрез </a:t>
            </a:r>
            <a:r>
              <a:rPr lang="ru-RU" sz="3300" spc="-300" dirty="0" err="1"/>
              <a:t>бележки</a:t>
            </a:r>
            <a:r>
              <a:rPr lang="ru-RU" sz="3300" spc="-300" dirty="0"/>
              <a:t> – </a:t>
            </a:r>
            <a:r>
              <a:rPr lang="ru-RU" sz="3300" spc="-300" dirty="0" err="1"/>
              <a:t>Flutter</a:t>
            </a:r>
            <a:r>
              <a:rPr lang="ru-RU" sz="3300" spc="-300" dirty="0"/>
              <a:t> Notes</a:t>
            </a:r>
            <a:endParaRPr lang="bg-BG" sz="3300" spc="-300" dirty="0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9D7EF2C9-CC3C-6DE6-7FDE-67CFAC2D9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471" y="4050834"/>
            <a:ext cx="7325032" cy="1769863"/>
          </a:xfrm>
        </p:spPr>
        <p:txBody>
          <a:bodyPr/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</a:rPr>
              <a:t>Автор</a:t>
            </a:r>
            <a:r>
              <a:rPr lang="ru-RU" dirty="0"/>
              <a:t>: </a:t>
            </a:r>
            <a:r>
              <a:rPr lang="ru-RU" dirty="0" err="1">
                <a:solidFill>
                  <a:schemeClr val="tx1"/>
                </a:solidFill>
              </a:rPr>
              <a:t>Емил</a:t>
            </a:r>
            <a:r>
              <a:rPr lang="ru-RU" dirty="0">
                <a:solidFill>
                  <a:schemeClr val="tx1"/>
                </a:solidFill>
              </a:rPr>
              <a:t> Григоров </a:t>
            </a:r>
            <a:r>
              <a:rPr lang="ru-RU" dirty="0" err="1">
                <a:solidFill>
                  <a:schemeClr val="tx1"/>
                </a:solidFill>
              </a:rPr>
              <a:t>Медаров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b="1" dirty="0" err="1">
                <a:solidFill>
                  <a:schemeClr val="bg2">
                    <a:lumMod val="50000"/>
                  </a:schemeClr>
                </a:solidFill>
              </a:rPr>
              <a:t>Факултетен</a:t>
            </a:r>
            <a:r>
              <a:rPr lang="ru-RU" b="1" dirty="0">
                <a:solidFill>
                  <a:schemeClr val="bg2">
                    <a:lumMod val="50000"/>
                  </a:schemeClr>
                </a:solidFill>
              </a:rPr>
              <a:t> номер</a:t>
            </a:r>
            <a:r>
              <a:rPr lang="ru-RU" dirty="0"/>
              <a:t>: </a:t>
            </a:r>
            <a:r>
              <a:rPr lang="ru-RU" dirty="0">
                <a:solidFill>
                  <a:schemeClr val="tx1"/>
                </a:solidFill>
              </a:rPr>
              <a:t>2501777012</a:t>
            </a:r>
          </a:p>
          <a:p>
            <a:r>
              <a:rPr lang="ru-RU" b="1" dirty="0" err="1">
                <a:solidFill>
                  <a:schemeClr val="bg2">
                    <a:lumMod val="50000"/>
                  </a:schemeClr>
                </a:solidFill>
              </a:rPr>
              <a:t>Специалност</a:t>
            </a:r>
            <a:r>
              <a:rPr lang="ru-RU" dirty="0"/>
              <a:t>: </a:t>
            </a:r>
            <a:r>
              <a:rPr lang="ru-RU" dirty="0" err="1">
                <a:solidFill>
                  <a:schemeClr val="tx1"/>
                </a:solidFill>
              </a:rPr>
              <a:t>Софтуерно</a:t>
            </a:r>
            <a:r>
              <a:rPr lang="ru-RU" dirty="0">
                <a:solidFill>
                  <a:schemeClr val="tx1"/>
                </a:solidFill>
              </a:rPr>
              <a:t> инженерство и технологии</a:t>
            </a:r>
          </a:p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</a:rPr>
              <a:t>Научен </a:t>
            </a:r>
            <a:r>
              <a:rPr lang="ru-RU" b="1" dirty="0" err="1">
                <a:solidFill>
                  <a:schemeClr val="bg2">
                    <a:lumMod val="50000"/>
                  </a:schemeClr>
                </a:solidFill>
              </a:rPr>
              <a:t>ръководител</a:t>
            </a:r>
            <a:r>
              <a:rPr lang="ru-RU" dirty="0"/>
              <a:t>: </a:t>
            </a:r>
            <a:r>
              <a:rPr lang="ru-RU" dirty="0">
                <a:solidFill>
                  <a:schemeClr val="tx1"/>
                </a:solidFill>
              </a:rPr>
              <a:t>инф. Виктор </a:t>
            </a:r>
            <a:r>
              <a:rPr lang="ru-RU" dirty="0" err="1">
                <a:solidFill>
                  <a:schemeClr val="tx1"/>
                </a:solidFill>
              </a:rPr>
              <a:t>Матански</a:t>
            </a:r>
            <a:endParaRPr lang="ru-RU" dirty="0">
              <a:solidFill>
                <a:schemeClr val="tx1"/>
              </a:solidFill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2162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57BE235-88DE-1007-D87C-C33B957A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430895"/>
            <a:ext cx="4365523" cy="1049235"/>
          </a:xfrm>
        </p:spPr>
        <p:txBody>
          <a:bodyPr>
            <a:normAutofit/>
          </a:bodyPr>
          <a:lstStyle/>
          <a:p>
            <a:pPr algn="ctr"/>
            <a:r>
              <a:rPr lang="bg-BG" sz="4800" b="1" dirty="0">
                <a:latin typeface="Georgia" panose="02040502050405020303" pitchFamily="18" charset="0"/>
              </a:rPr>
              <a:t>Резюме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E9C5260-AECC-C8AB-62A6-5E9669A4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2015733"/>
            <a:ext cx="8681884" cy="3972112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 err="1">
                <a:latin typeface="Georgia" panose="02040502050405020303" pitchFamily="18" charset="0"/>
              </a:rPr>
              <a:t>Приложението</a:t>
            </a:r>
            <a:r>
              <a:rPr lang="ru-RU" dirty="0">
                <a:latin typeface="Georgia" panose="02040502050405020303" pitchFamily="18" charset="0"/>
              </a:rPr>
              <a:t> е </a:t>
            </a:r>
            <a:r>
              <a:rPr lang="ru-RU" dirty="0" err="1">
                <a:latin typeface="Georgia" panose="02040502050405020303" pitchFamily="18" charset="0"/>
              </a:rPr>
              <a:t>разработено</a:t>
            </a:r>
            <a:r>
              <a:rPr lang="ru-RU" dirty="0">
                <a:latin typeface="Georgia" panose="02040502050405020303" pitchFamily="18" charset="0"/>
              </a:rPr>
              <a:t> с </a:t>
            </a:r>
            <a:r>
              <a:rPr lang="ru-RU" dirty="0" err="1">
                <a:latin typeface="Georgia" panose="02040502050405020303" pitchFamily="18" charset="0"/>
              </a:rPr>
              <a:t>платформата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en-US" dirty="0">
                <a:latin typeface="Georgia" panose="02040502050405020303" pitchFamily="18" charset="0"/>
              </a:rPr>
              <a:t>Flutter </a:t>
            </a:r>
            <a:r>
              <a:rPr lang="ru-RU" dirty="0">
                <a:latin typeface="Georgia" panose="02040502050405020303" pitchFamily="18" charset="0"/>
              </a:rPr>
              <a:t>и </a:t>
            </a:r>
            <a:r>
              <a:rPr lang="ru-RU" dirty="0" err="1">
                <a:latin typeface="Georgia" panose="02040502050405020303" pitchFamily="18" charset="0"/>
              </a:rPr>
              <a:t>езика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en-US" dirty="0">
                <a:latin typeface="Georgia" panose="02040502050405020303" pitchFamily="18" charset="0"/>
              </a:rPr>
              <a:t>Dart, </a:t>
            </a:r>
            <a:r>
              <a:rPr lang="ru-RU" dirty="0" err="1">
                <a:latin typeface="Georgia" panose="02040502050405020303" pitchFamily="18" charset="0"/>
              </a:rPr>
              <a:t>като</a:t>
            </a:r>
            <a:r>
              <a:rPr lang="ru-RU" dirty="0">
                <a:latin typeface="Georgia" panose="02040502050405020303" pitchFamily="18" charset="0"/>
              </a:rPr>
              <a:t> за </a:t>
            </a:r>
            <a:r>
              <a:rPr lang="en-US" dirty="0">
                <a:latin typeface="Georgia" panose="02040502050405020303" pitchFamily="18" charset="0"/>
              </a:rPr>
              <a:t>backend </a:t>
            </a:r>
            <a:r>
              <a:rPr lang="ru-RU" dirty="0">
                <a:latin typeface="Georgia" panose="02040502050405020303" pitchFamily="18" charset="0"/>
              </a:rPr>
              <a:t>услуги и </a:t>
            </a:r>
            <a:r>
              <a:rPr lang="ru-RU" dirty="0" err="1">
                <a:latin typeface="Georgia" panose="02040502050405020303" pitchFamily="18" charset="0"/>
              </a:rPr>
              <a:t>съхранение</a:t>
            </a:r>
            <a:r>
              <a:rPr lang="ru-RU" dirty="0">
                <a:latin typeface="Georgia" panose="02040502050405020303" pitchFamily="18" charset="0"/>
              </a:rPr>
              <a:t> на </a:t>
            </a:r>
            <a:r>
              <a:rPr lang="ru-RU" dirty="0" err="1">
                <a:latin typeface="Georgia" panose="02040502050405020303" pitchFamily="18" charset="0"/>
              </a:rPr>
              <a:t>данни</a:t>
            </a:r>
            <a:r>
              <a:rPr lang="ru-RU" dirty="0">
                <a:latin typeface="Georgia" panose="02040502050405020303" pitchFamily="18" charset="0"/>
              </a:rPr>
              <a:t> е </a:t>
            </a:r>
            <a:r>
              <a:rPr lang="ru-RU" dirty="0" err="1">
                <a:latin typeface="Georgia" panose="02040502050405020303" pitchFamily="18" charset="0"/>
              </a:rPr>
              <a:t>използван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en-US" dirty="0">
                <a:latin typeface="Georgia" panose="02040502050405020303" pitchFamily="18" charset="0"/>
              </a:rPr>
              <a:t>Firebase </a:t>
            </a:r>
            <a:r>
              <a:rPr lang="ru-RU" dirty="0">
                <a:latin typeface="Georgia" panose="02040502050405020303" pitchFamily="18" charset="0"/>
              </a:rPr>
              <a:t>с </a:t>
            </a:r>
            <a:r>
              <a:rPr lang="en-US" dirty="0">
                <a:latin typeface="Georgia" panose="02040502050405020303" pitchFamily="18" charset="0"/>
              </a:rPr>
              <a:t>Cloud </a:t>
            </a:r>
            <a:r>
              <a:rPr lang="en-US" dirty="0" err="1">
                <a:latin typeface="Georgia" panose="02040502050405020303" pitchFamily="18" charset="0"/>
              </a:rPr>
              <a:t>Firestore</a:t>
            </a:r>
            <a:r>
              <a:rPr lang="en-US" dirty="0">
                <a:latin typeface="Georgia" panose="02040502050405020303" pitchFamily="18" charset="0"/>
              </a:rPr>
              <a:t> – NoSQL </a:t>
            </a:r>
            <a:r>
              <a:rPr lang="ru-RU" dirty="0">
                <a:latin typeface="Georgia" panose="02040502050405020303" pitchFamily="18" charset="0"/>
              </a:rPr>
              <a:t>база </a:t>
            </a:r>
            <a:r>
              <a:rPr lang="ru-RU" dirty="0" err="1">
                <a:latin typeface="Georgia" panose="02040502050405020303" pitchFamily="18" charset="0"/>
              </a:rPr>
              <a:t>данни</a:t>
            </a:r>
            <a:r>
              <a:rPr lang="ru-RU" dirty="0">
                <a:latin typeface="Georgia" panose="02040502050405020303" pitchFamily="18" charset="0"/>
              </a:rPr>
              <a:t>, </a:t>
            </a:r>
            <a:r>
              <a:rPr lang="ru-RU" dirty="0" err="1">
                <a:latin typeface="Georgia" panose="02040502050405020303" pitchFamily="18" charset="0"/>
              </a:rPr>
              <a:t>осигуряваща</a:t>
            </a:r>
            <a:r>
              <a:rPr lang="ru-RU" dirty="0">
                <a:latin typeface="Georgia" panose="02040502050405020303" pitchFamily="18" charset="0"/>
              </a:rPr>
              <a:t> синхронизация в </a:t>
            </a:r>
            <a:r>
              <a:rPr lang="ru-RU" dirty="0" err="1">
                <a:latin typeface="Georgia" panose="02040502050405020303" pitchFamily="18" charset="0"/>
              </a:rPr>
              <a:t>реално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време</a:t>
            </a:r>
            <a:r>
              <a:rPr lang="ru-RU" dirty="0">
                <a:latin typeface="Georgia" panose="02040502050405020303" pitchFamily="18" charset="0"/>
              </a:rPr>
              <a:t> и офлайн </a:t>
            </a:r>
            <a:r>
              <a:rPr lang="ru-RU" dirty="0" err="1">
                <a:latin typeface="Georgia" panose="02040502050405020303" pitchFamily="18" charset="0"/>
              </a:rPr>
              <a:t>поддръжка</a:t>
            </a:r>
            <a:r>
              <a:rPr lang="ru-RU" dirty="0">
                <a:latin typeface="Georgia" panose="02040502050405020303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 err="1">
                <a:latin typeface="Georgia" panose="02040502050405020303" pitchFamily="18" charset="0"/>
              </a:rPr>
              <a:t>Системата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поддържа</a:t>
            </a:r>
            <a:r>
              <a:rPr lang="ru-RU" dirty="0">
                <a:latin typeface="Georgia" panose="02040502050405020303" pitchFamily="18" charset="0"/>
              </a:rPr>
              <a:t> две </a:t>
            </a:r>
            <a:r>
              <a:rPr lang="ru-RU" dirty="0" err="1">
                <a:latin typeface="Georgia" panose="02040502050405020303" pitchFamily="18" charset="0"/>
              </a:rPr>
              <a:t>потребителски</a:t>
            </a:r>
            <a:r>
              <a:rPr lang="ru-RU" dirty="0">
                <a:latin typeface="Georgia" panose="02040502050405020303" pitchFamily="18" charset="0"/>
              </a:rPr>
              <a:t> роли – </a:t>
            </a:r>
            <a:r>
              <a:rPr lang="ru-RU" dirty="0" err="1">
                <a:latin typeface="Georgia" panose="02040502050405020303" pitchFamily="18" charset="0"/>
              </a:rPr>
              <a:t>нерегистриран</a:t>
            </a:r>
            <a:r>
              <a:rPr lang="ru-RU" dirty="0">
                <a:latin typeface="Georgia" panose="02040502050405020303" pitchFamily="18" charset="0"/>
              </a:rPr>
              <a:t> и </a:t>
            </a:r>
            <a:r>
              <a:rPr lang="ru-RU" dirty="0" err="1">
                <a:latin typeface="Georgia" panose="02040502050405020303" pitchFamily="18" charset="0"/>
              </a:rPr>
              <a:t>регистриран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потребител</a:t>
            </a:r>
            <a:r>
              <a:rPr lang="ru-RU" dirty="0">
                <a:latin typeface="Georgia" panose="02040502050405020303" pitchFamily="18" charset="0"/>
              </a:rPr>
              <a:t>, </a:t>
            </a:r>
            <a:r>
              <a:rPr lang="ru-RU" dirty="0" err="1">
                <a:latin typeface="Georgia" panose="02040502050405020303" pitchFamily="18" charset="0"/>
              </a:rPr>
              <a:t>като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регистрираните</a:t>
            </a:r>
            <a:r>
              <a:rPr lang="ru-RU" dirty="0">
                <a:latin typeface="Georgia" panose="02040502050405020303" pitchFamily="18" charset="0"/>
              </a:rPr>
              <a:t> потребители </a:t>
            </a:r>
            <a:r>
              <a:rPr lang="ru-RU" dirty="0" err="1">
                <a:latin typeface="Georgia" panose="02040502050405020303" pitchFamily="18" charset="0"/>
              </a:rPr>
              <a:t>имат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пълен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достъп</a:t>
            </a:r>
            <a:r>
              <a:rPr lang="ru-RU" dirty="0">
                <a:latin typeface="Georgia" panose="02040502050405020303" pitchFamily="18" charset="0"/>
              </a:rPr>
              <a:t> до </a:t>
            </a:r>
            <a:r>
              <a:rPr lang="ru-RU" dirty="0" err="1">
                <a:latin typeface="Georgia" panose="02040502050405020303" pitchFamily="18" charset="0"/>
              </a:rPr>
              <a:t>функционалностите</a:t>
            </a:r>
            <a:r>
              <a:rPr lang="ru-RU" dirty="0">
                <a:latin typeface="Georgia" panose="02040502050405020303" pitchFamily="18" charset="0"/>
              </a:rPr>
              <a:t> за </a:t>
            </a:r>
            <a:r>
              <a:rPr lang="ru-RU" dirty="0" err="1">
                <a:latin typeface="Georgia" panose="02040502050405020303" pitchFamily="18" charset="0"/>
              </a:rPr>
              <a:t>създаване</a:t>
            </a:r>
            <a:r>
              <a:rPr lang="ru-RU" dirty="0">
                <a:latin typeface="Georgia" panose="02040502050405020303" pitchFamily="18" charset="0"/>
              </a:rPr>
              <a:t>, </a:t>
            </a:r>
            <a:r>
              <a:rPr lang="ru-RU" dirty="0" err="1">
                <a:latin typeface="Georgia" panose="02040502050405020303" pitchFamily="18" charset="0"/>
              </a:rPr>
              <a:t>редактиране</a:t>
            </a:r>
            <a:r>
              <a:rPr lang="ru-RU" dirty="0">
                <a:latin typeface="Georgia" panose="02040502050405020303" pitchFamily="18" charset="0"/>
              </a:rPr>
              <a:t>, </a:t>
            </a:r>
            <a:r>
              <a:rPr lang="ru-RU" dirty="0" err="1">
                <a:latin typeface="Georgia" panose="02040502050405020303" pitchFamily="18" charset="0"/>
              </a:rPr>
              <a:t>изтриване</a:t>
            </a:r>
            <a:r>
              <a:rPr lang="ru-RU" dirty="0">
                <a:latin typeface="Georgia" panose="02040502050405020303" pitchFamily="18" charset="0"/>
              </a:rPr>
              <a:t>, </a:t>
            </a:r>
            <a:r>
              <a:rPr lang="ru-RU" dirty="0" err="1">
                <a:latin typeface="Georgia" panose="02040502050405020303" pitchFamily="18" charset="0"/>
              </a:rPr>
              <a:t>филтриране</a:t>
            </a:r>
            <a:r>
              <a:rPr lang="ru-RU" dirty="0">
                <a:latin typeface="Georgia" panose="02040502050405020303" pitchFamily="18" charset="0"/>
              </a:rPr>
              <a:t> и </a:t>
            </a:r>
            <a:r>
              <a:rPr lang="ru-RU" dirty="0" err="1">
                <a:latin typeface="Georgia" panose="02040502050405020303" pitchFamily="18" charset="0"/>
              </a:rPr>
              <a:t>форматиране</a:t>
            </a:r>
            <a:r>
              <a:rPr lang="ru-RU" dirty="0">
                <a:latin typeface="Georgia" panose="02040502050405020303" pitchFamily="18" charset="0"/>
              </a:rPr>
              <a:t> на </a:t>
            </a:r>
            <a:r>
              <a:rPr lang="ru-RU" dirty="0" err="1">
                <a:latin typeface="Georgia" panose="02040502050405020303" pitchFamily="18" charset="0"/>
              </a:rPr>
              <a:t>бележки</a:t>
            </a:r>
            <a:r>
              <a:rPr lang="ru-RU" dirty="0">
                <a:latin typeface="Georgia" panose="02040502050405020303" pitchFamily="18" charset="0"/>
              </a:rPr>
              <a:t>.</a:t>
            </a:r>
            <a:endParaRPr lang="bg-BG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057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57BE235-88DE-1007-D87C-C33B957A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430895"/>
            <a:ext cx="8681884" cy="1049235"/>
          </a:xfrm>
        </p:spPr>
        <p:txBody>
          <a:bodyPr>
            <a:normAutofit/>
          </a:bodyPr>
          <a:lstStyle/>
          <a:p>
            <a:pPr algn="ctr"/>
            <a:r>
              <a:rPr lang="bg-BG" b="1" dirty="0">
                <a:latin typeface="Georgia" panose="02040502050405020303" pitchFamily="18" charset="0"/>
              </a:rPr>
              <a:t>Цели и задачи на разработката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E9C5260-AECC-C8AB-62A6-5E9669A4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2015733"/>
            <a:ext cx="8681884" cy="3972112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 err="1">
                <a:latin typeface="Georgia" panose="02040502050405020303" pitchFamily="18" charset="0"/>
              </a:rPr>
              <a:t>Настоящата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дипломна</a:t>
            </a:r>
            <a:r>
              <a:rPr lang="ru-RU" dirty="0">
                <a:latin typeface="Georgia" panose="02040502050405020303" pitchFamily="18" charset="0"/>
              </a:rPr>
              <a:t> работа </a:t>
            </a:r>
            <a:r>
              <a:rPr lang="ru-RU" dirty="0" err="1">
                <a:latin typeface="Georgia" panose="02040502050405020303" pitchFamily="18" charset="0"/>
              </a:rPr>
              <a:t>има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следните</a:t>
            </a:r>
            <a:r>
              <a:rPr lang="ru-RU" dirty="0">
                <a:latin typeface="Georgia" panose="02040502050405020303" pitchFamily="18" charset="0"/>
              </a:rPr>
              <a:t> цели, </a:t>
            </a:r>
            <a:r>
              <a:rPr lang="ru-RU" dirty="0" err="1">
                <a:latin typeface="Georgia" panose="02040502050405020303" pitchFamily="18" charset="0"/>
              </a:rPr>
              <a:t>чието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изпълнение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допринася</a:t>
            </a:r>
            <a:r>
              <a:rPr lang="ru-RU" dirty="0">
                <a:latin typeface="Georgia" panose="02040502050405020303" pitchFamily="18" charset="0"/>
              </a:rPr>
              <a:t> за </a:t>
            </a:r>
            <a:r>
              <a:rPr lang="ru-RU" dirty="0" err="1">
                <a:latin typeface="Georgia" panose="02040502050405020303" pitchFamily="18" charset="0"/>
              </a:rPr>
              <a:t>решаването</a:t>
            </a:r>
            <a:r>
              <a:rPr lang="ru-RU" dirty="0">
                <a:latin typeface="Georgia" panose="02040502050405020303" pitchFamily="18" charset="0"/>
              </a:rPr>
              <a:t> на </a:t>
            </a:r>
            <a:r>
              <a:rPr lang="ru-RU" dirty="0" err="1">
                <a:latin typeface="Georgia" panose="02040502050405020303" pitchFamily="18" charset="0"/>
              </a:rPr>
              <a:t>цялостния</a:t>
            </a:r>
            <a:r>
              <a:rPr lang="ru-RU" dirty="0">
                <a:latin typeface="Georgia" panose="02040502050405020303" pitchFamily="18" charset="0"/>
              </a:rPr>
              <a:t> проблем: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b="1" dirty="0">
                <a:latin typeface="Georgia" panose="02040502050405020303" pitchFamily="18" charset="0"/>
              </a:rPr>
              <a:t>Цел 1</a:t>
            </a:r>
            <a:r>
              <a:rPr lang="ru-RU" dirty="0">
                <a:latin typeface="Georgia" panose="02040502050405020303" pitchFamily="18" charset="0"/>
              </a:rPr>
              <a:t>: Да </a:t>
            </a:r>
            <a:r>
              <a:rPr lang="ru-RU" dirty="0" err="1">
                <a:latin typeface="Georgia" panose="02040502050405020303" pitchFamily="18" charset="0"/>
              </a:rPr>
              <a:t>бъде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създаден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завършен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софтуерен</a:t>
            </a:r>
            <a:r>
              <a:rPr lang="ru-RU" dirty="0">
                <a:latin typeface="Georgia" panose="02040502050405020303" pitchFamily="18" charset="0"/>
              </a:rPr>
              <a:t> продукт, </a:t>
            </a:r>
            <a:r>
              <a:rPr lang="ru-RU" dirty="0" err="1">
                <a:latin typeface="Georgia" panose="02040502050405020303" pitchFamily="18" charset="0"/>
              </a:rPr>
              <a:t>който</a:t>
            </a:r>
            <a:r>
              <a:rPr lang="ru-RU" dirty="0">
                <a:latin typeface="Georgia" panose="02040502050405020303" pitchFamily="18" charset="0"/>
              </a:rPr>
              <a:t> да </a:t>
            </a:r>
            <a:r>
              <a:rPr lang="ru-RU" dirty="0" err="1">
                <a:latin typeface="Georgia" panose="02040502050405020303" pitchFamily="18" charset="0"/>
              </a:rPr>
              <a:t>представлява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универсално</a:t>
            </a:r>
            <a:r>
              <a:rPr lang="ru-RU" dirty="0">
                <a:latin typeface="Georgia" panose="02040502050405020303" pitchFamily="18" charset="0"/>
              </a:rPr>
              <a:t> средство за хора, </a:t>
            </a:r>
            <a:r>
              <a:rPr lang="ru-RU" dirty="0" err="1">
                <a:latin typeface="Georgia" panose="02040502050405020303" pitchFamily="18" charset="0"/>
              </a:rPr>
              <a:t>стремящи</a:t>
            </a:r>
            <a:r>
              <a:rPr lang="ru-RU" dirty="0">
                <a:latin typeface="Georgia" panose="02040502050405020303" pitchFamily="18" charset="0"/>
              </a:rPr>
              <a:t> се </a:t>
            </a:r>
            <a:r>
              <a:rPr lang="ru-RU" dirty="0" err="1">
                <a:latin typeface="Georgia" panose="02040502050405020303" pitchFamily="18" charset="0"/>
              </a:rPr>
              <a:t>към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по-добра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организираност</a:t>
            </a:r>
            <a:r>
              <a:rPr lang="ru-RU" dirty="0">
                <a:latin typeface="Georgia" panose="02040502050405020303" pitchFamily="18" charset="0"/>
              </a:rPr>
              <a:t> и </a:t>
            </a:r>
            <a:r>
              <a:rPr lang="ru-RU" dirty="0" err="1">
                <a:latin typeface="Georgia" panose="02040502050405020303" pitchFamily="18" charset="0"/>
              </a:rPr>
              <a:t>повишена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ефективност</a:t>
            </a:r>
            <a:r>
              <a:rPr lang="ru-RU" dirty="0">
                <a:latin typeface="Georgia" panose="02040502050405020303" pitchFamily="18" charset="0"/>
              </a:rPr>
              <a:t> при </a:t>
            </a:r>
            <a:r>
              <a:rPr lang="ru-RU" dirty="0" err="1">
                <a:latin typeface="Georgia" panose="02040502050405020303" pitchFamily="18" charset="0"/>
              </a:rPr>
              <a:t>изпълнение</a:t>
            </a:r>
            <a:r>
              <a:rPr lang="ru-RU" dirty="0">
                <a:latin typeface="Georgia" panose="02040502050405020303" pitchFamily="18" charset="0"/>
              </a:rPr>
              <a:t> на </a:t>
            </a:r>
            <a:r>
              <a:rPr lang="ru-RU" dirty="0" err="1">
                <a:latin typeface="Georgia" panose="02040502050405020303" pitchFamily="18" charset="0"/>
              </a:rPr>
              <a:t>ежедневните</a:t>
            </a:r>
            <a:r>
              <a:rPr lang="ru-RU" dirty="0">
                <a:latin typeface="Georgia" panose="02040502050405020303" pitchFamily="18" charset="0"/>
              </a:rPr>
              <a:t> си задачи.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b="1" dirty="0">
                <a:latin typeface="Georgia" panose="02040502050405020303" pitchFamily="18" charset="0"/>
              </a:rPr>
              <a:t>Цел 2</a:t>
            </a:r>
            <a:r>
              <a:rPr lang="ru-RU" dirty="0">
                <a:latin typeface="Georgia" panose="02040502050405020303" pitchFamily="18" charset="0"/>
              </a:rPr>
              <a:t>: Да се </a:t>
            </a:r>
            <a:r>
              <a:rPr lang="ru-RU" dirty="0" err="1">
                <a:latin typeface="Georgia" panose="02040502050405020303" pitchFamily="18" charset="0"/>
              </a:rPr>
              <a:t>осъществи</a:t>
            </a:r>
            <a:r>
              <a:rPr lang="ru-RU" dirty="0">
                <a:latin typeface="Georgia" panose="02040502050405020303" pitchFamily="18" charset="0"/>
              </a:rPr>
              <a:t>  анализ и сравнение на вече </a:t>
            </a:r>
            <a:r>
              <a:rPr lang="ru-RU" dirty="0" err="1">
                <a:latin typeface="Georgia" panose="02040502050405020303" pitchFamily="18" charset="0"/>
              </a:rPr>
              <a:t>съществуващи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платформи</a:t>
            </a:r>
            <a:r>
              <a:rPr lang="ru-RU" dirty="0">
                <a:latin typeface="Georgia" panose="02040502050405020303" pitchFamily="18" charset="0"/>
              </a:rPr>
              <a:t>.</a:t>
            </a:r>
            <a:endParaRPr lang="bg-BG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088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57BE235-88DE-1007-D87C-C33B957A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430895"/>
            <a:ext cx="8681884" cy="1049235"/>
          </a:xfrm>
        </p:spPr>
        <p:txBody>
          <a:bodyPr>
            <a:normAutofit/>
          </a:bodyPr>
          <a:lstStyle/>
          <a:p>
            <a:pPr algn="ctr"/>
            <a:r>
              <a:rPr lang="bg-BG" b="1" dirty="0">
                <a:latin typeface="Georgia" panose="02040502050405020303" pitchFamily="18" charset="0"/>
              </a:rPr>
              <a:t>Цели и задачи на разработката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E9C5260-AECC-C8AB-62A6-5E9669A4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2015733"/>
            <a:ext cx="8681884" cy="3972112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b="1" dirty="0">
                <a:latin typeface="Georgia" panose="02040502050405020303" pitchFamily="18" charset="0"/>
              </a:rPr>
              <a:t>Цел 3</a:t>
            </a:r>
            <a:r>
              <a:rPr lang="ru-RU" dirty="0">
                <a:latin typeface="Georgia" panose="02040502050405020303" pitchFamily="18" charset="0"/>
              </a:rPr>
              <a:t>: Да </a:t>
            </a:r>
            <a:r>
              <a:rPr lang="ru-RU" dirty="0" err="1">
                <a:latin typeface="Georgia" panose="02040502050405020303" pitchFamily="18" charset="0"/>
              </a:rPr>
              <a:t>бъде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изграден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краен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софтуерен</a:t>
            </a:r>
            <a:r>
              <a:rPr lang="ru-RU" dirty="0">
                <a:latin typeface="Georgia" panose="02040502050405020303" pitchFamily="18" charset="0"/>
              </a:rPr>
              <a:t> продукт, </a:t>
            </a:r>
            <a:r>
              <a:rPr lang="ru-RU" dirty="0" err="1">
                <a:latin typeface="Georgia" panose="02040502050405020303" pitchFamily="18" charset="0"/>
              </a:rPr>
              <a:t>който</a:t>
            </a:r>
            <a:r>
              <a:rPr lang="ru-RU" dirty="0">
                <a:latin typeface="Georgia" panose="02040502050405020303" pitchFamily="18" charset="0"/>
              </a:rPr>
              <a:t> да </a:t>
            </a:r>
            <a:r>
              <a:rPr lang="ru-RU" dirty="0" err="1">
                <a:latin typeface="Georgia" panose="02040502050405020303" pitchFamily="18" charset="0"/>
              </a:rPr>
              <a:t>удовлетворява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поставените</a:t>
            </a:r>
            <a:r>
              <a:rPr lang="ru-RU" dirty="0">
                <a:latin typeface="Georgia" panose="02040502050405020303" pitchFamily="18" charset="0"/>
              </a:rPr>
              <a:t> цели, </a:t>
            </a:r>
            <a:r>
              <a:rPr lang="ru-RU" dirty="0" err="1">
                <a:latin typeface="Georgia" panose="02040502050405020303" pitchFamily="18" charset="0"/>
              </a:rPr>
              <a:t>свързани</a:t>
            </a:r>
            <a:r>
              <a:rPr lang="ru-RU" dirty="0">
                <a:latin typeface="Georgia" panose="02040502050405020303" pitchFamily="18" charset="0"/>
              </a:rPr>
              <a:t> с </a:t>
            </a:r>
            <a:r>
              <a:rPr lang="ru-RU" dirty="0" err="1">
                <a:latin typeface="Georgia" panose="02040502050405020303" pitchFamily="18" charset="0"/>
              </a:rPr>
              <a:t>добавяне</a:t>
            </a:r>
            <a:r>
              <a:rPr lang="ru-RU" dirty="0">
                <a:latin typeface="Georgia" panose="02040502050405020303" pitchFamily="18" charset="0"/>
              </a:rPr>
              <a:t> на записки, </a:t>
            </a:r>
            <a:r>
              <a:rPr lang="ru-RU" dirty="0" err="1">
                <a:latin typeface="Georgia" panose="02040502050405020303" pitchFamily="18" charset="0"/>
              </a:rPr>
              <a:t>осигуряване</a:t>
            </a:r>
            <a:r>
              <a:rPr lang="ru-RU" dirty="0">
                <a:latin typeface="Georgia" panose="02040502050405020303" pitchFamily="18" charset="0"/>
              </a:rPr>
              <a:t> на </a:t>
            </a:r>
            <a:r>
              <a:rPr lang="ru-RU" dirty="0" err="1">
                <a:latin typeface="Georgia" panose="02040502050405020303" pitchFamily="18" charset="0"/>
              </a:rPr>
              <a:t>стабилна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функционалност</a:t>
            </a:r>
            <a:r>
              <a:rPr lang="ru-RU" dirty="0">
                <a:latin typeface="Georgia" panose="02040502050405020303" pitchFamily="18" charset="0"/>
              </a:rPr>
              <a:t> на потребителя на </a:t>
            </a:r>
            <a:r>
              <a:rPr lang="ru-RU" dirty="0" err="1">
                <a:latin typeface="Georgia" panose="02040502050405020303" pitchFamily="18" charset="0"/>
              </a:rPr>
              <a:t>апликацията</a:t>
            </a:r>
            <a:r>
              <a:rPr lang="ru-RU" dirty="0">
                <a:latin typeface="Georgia" panose="02040502050405020303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b="1" dirty="0">
                <a:latin typeface="Georgia" panose="02040502050405020303" pitchFamily="18" charset="0"/>
              </a:rPr>
              <a:t>Цел 4</a:t>
            </a:r>
            <a:r>
              <a:rPr lang="ru-RU" dirty="0">
                <a:latin typeface="Georgia" panose="02040502050405020303" pitchFamily="18" charset="0"/>
              </a:rPr>
              <a:t>: При </a:t>
            </a:r>
            <a:r>
              <a:rPr lang="ru-RU" dirty="0" err="1">
                <a:latin typeface="Georgia" panose="02040502050405020303" pitchFamily="18" charset="0"/>
              </a:rPr>
              <a:t>разработката</a:t>
            </a:r>
            <a:r>
              <a:rPr lang="ru-RU" dirty="0">
                <a:latin typeface="Georgia" panose="02040502050405020303" pitchFamily="18" charset="0"/>
              </a:rPr>
              <a:t> на </a:t>
            </a:r>
            <a:r>
              <a:rPr lang="ru-RU" dirty="0" err="1">
                <a:latin typeface="Georgia" panose="02040502050405020303" pitchFamily="18" charset="0"/>
              </a:rPr>
              <a:t>мобилната</a:t>
            </a:r>
            <a:r>
              <a:rPr lang="ru-RU" dirty="0">
                <a:latin typeface="Georgia" panose="02040502050405020303" pitchFamily="18" charset="0"/>
              </a:rPr>
              <a:t> платформа да </a:t>
            </a:r>
            <a:r>
              <a:rPr lang="ru-RU" dirty="0" err="1">
                <a:latin typeface="Georgia" panose="02040502050405020303" pitchFamily="18" charset="0"/>
              </a:rPr>
              <a:t>бъдат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използвани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съвременни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методи</a:t>
            </a:r>
            <a:r>
              <a:rPr lang="ru-RU" dirty="0">
                <a:latin typeface="Georgia" panose="02040502050405020303" pitchFamily="18" charset="0"/>
              </a:rPr>
              <a:t> и технологии за </a:t>
            </a:r>
            <a:r>
              <a:rPr lang="ru-RU" dirty="0" err="1">
                <a:latin typeface="Georgia" panose="02040502050405020303" pitchFamily="18" charset="0"/>
              </a:rPr>
              <a:t>мобилно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програмиране</a:t>
            </a:r>
            <a:r>
              <a:rPr lang="ru-RU" dirty="0">
                <a:latin typeface="Georgia" panose="02040502050405020303" pitchFamily="18" charset="0"/>
              </a:rPr>
              <a:t>.</a:t>
            </a:r>
            <a:endParaRPr lang="bg-BG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937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57BE235-88DE-1007-D87C-C33B957A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430895"/>
            <a:ext cx="8681884" cy="1049235"/>
          </a:xfrm>
        </p:spPr>
        <p:txBody>
          <a:bodyPr>
            <a:normAutofit/>
          </a:bodyPr>
          <a:lstStyle/>
          <a:p>
            <a:pPr algn="ctr"/>
            <a:r>
              <a:rPr lang="bg-BG" sz="3000" b="1" dirty="0">
                <a:latin typeface="Georgia" panose="02040502050405020303" pitchFamily="18" charset="0"/>
              </a:rPr>
              <a:t>Структура на дипломната работа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E9C5260-AECC-C8AB-62A6-5E9669A4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58" y="1845393"/>
            <a:ext cx="8681884" cy="4729196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900" dirty="0">
                <a:latin typeface="Georgia" panose="02040502050405020303" pitchFamily="18" charset="0"/>
              </a:rPr>
              <a:t>В Глава </a:t>
            </a:r>
            <a:r>
              <a:rPr lang="ru-RU" sz="1900" dirty="0" err="1">
                <a:latin typeface="Georgia" panose="02040502050405020303" pitchFamily="18" charset="0"/>
              </a:rPr>
              <a:t>първа</a:t>
            </a:r>
            <a:r>
              <a:rPr lang="ru-RU" sz="1900" dirty="0">
                <a:latin typeface="Georgia" panose="02040502050405020303" pitchFamily="18" charset="0"/>
              </a:rPr>
              <a:t>, </a:t>
            </a:r>
            <a:r>
              <a:rPr lang="ru-RU" sz="1900" dirty="0" err="1">
                <a:latin typeface="Georgia" panose="02040502050405020303" pitchFamily="18" charset="0"/>
              </a:rPr>
              <a:t>озаглавена</a:t>
            </a:r>
            <a:r>
              <a:rPr lang="ru-RU" sz="1900" dirty="0">
                <a:latin typeface="Georgia" panose="02040502050405020303" pitchFamily="18" charset="0"/>
              </a:rPr>
              <a:t> „</a:t>
            </a:r>
            <a:r>
              <a:rPr lang="ru-RU" sz="1900" dirty="0" err="1">
                <a:latin typeface="Georgia" panose="02040502050405020303" pitchFamily="18" charset="0"/>
              </a:rPr>
              <a:t>Актуалност</a:t>
            </a:r>
            <a:r>
              <a:rPr lang="ru-RU" sz="1900" dirty="0">
                <a:latin typeface="Georgia" panose="02040502050405020303" pitchFamily="18" charset="0"/>
              </a:rPr>
              <a:t> на проблема“, се </a:t>
            </a:r>
            <a:r>
              <a:rPr lang="ru-RU" sz="1900" dirty="0" err="1">
                <a:latin typeface="Georgia" panose="02040502050405020303" pitchFamily="18" charset="0"/>
              </a:rPr>
              <a:t>анализират</a:t>
            </a:r>
            <a:r>
              <a:rPr lang="ru-RU" sz="1900" dirty="0">
                <a:latin typeface="Georgia" panose="02040502050405020303" pitchFamily="18" charset="0"/>
              </a:rPr>
              <a:t> </a:t>
            </a:r>
            <a:r>
              <a:rPr lang="ru-RU" sz="1900" dirty="0" err="1">
                <a:latin typeface="Georgia" panose="02040502050405020303" pitchFamily="18" charset="0"/>
              </a:rPr>
              <a:t>съществуващите</a:t>
            </a:r>
            <a:r>
              <a:rPr lang="ru-RU" sz="1900" dirty="0">
                <a:latin typeface="Georgia" panose="02040502050405020303" pitchFamily="18" charset="0"/>
              </a:rPr>
              <a:t> и </a:t>
            </a:r>
            <a:r>
              <a:rPr lang="ru-RU" sz="1900" dirty="0" err="1">
                <a:latin typeface="Georgia" panose="02040502050405020303" pitchFamily="18" charset="0"/>
              </a:rPr>
              <a:t>някои</a:t>
            </a:r>
            <a:r>
              <a:rPr lang="ru-RU" sz="1900" dirty="0">
                <a:latin typeface="Georgia" panose="02040502050405020303" pitchFamily="18" charset="0"/>
              </a:rPr>
              <a:t> от най-</a:t>
            </a:r>
            <a:r>
              <a:rPr lang="ru-RU" sz="1900" dirty="0" err="1">
                <a:latin typeface="Georgia" panose="02040502050405020303" pitchFamily="18" charset="0"/>
              </a:rPr>
              <a:t>популярните</a:t>
            </a:r>
            <a:r>
              <a:rPr lang="ru-RU" sz="1900" dirty="0">
                <a:latin typeface="Georgia" panose="02040502050405020303" pitchFamily="18" charset="0"/>
              </a:rPr>
              <a:t> </a:t>
            </a:r>
            <a:r>
              <a:rPr lang="ru-RU" sz="1900" dirty="0" err="1">
                <a:latin typeface="Georgia" panose="02040502050405020303" pitchFamily="18" charset="0"/>
              </a:rPr>
              <a:t>платформи</a:t>
            </a:r>
            <a:r>
              <a:rPr lang="ru-RU" sz="1900" dirty="0">
                <a:latin typeface="Georgia" panose="02040502050405020303" pitchFamily="18" charset="0"/>
              </a:rPr>
              <a:t> в интернет </a:t>
            </a:r>
            <a:r>
              <a:rPr lang="ru-RU" sz="1900" dirty="0" err="1">
                <a:latin typeface="Georgia" panose="02040502050405020303" pitchFamily="18" charset="0"/>
              </a:rPr>
              <a:t>пространството</a:t>
            </a:r>
            <a:r>
              <a:rPr lang="ru-RU" sz="1900" dirty="0">
                <a:latin typeface="Georgia" panose="02040502050405020303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1900" dirty="0">
                <a:latin typeface="Georgia" panose="02040502050405020303" pitchFamily="18" charset="0"/>
              </a:rPr>
              <a:t>В Глава втора, </a:t>
            </a:r>
            <a:r>
              <a:rPr lang="ru-RU" sz="1900" dirty="0" err="1">
                <a:latin typeface="Georgia" panose="02040502050405020303" pitchFamily="18" charset="0"/>
              </a:rPr>
              <a:t>озаглавена</a:t>
            </a:r>
            <a:r>
              <a:rPr lang="ru-RU" sz="1900" dirty="0">
                <a:latin typeface="Georgia" panose="02040502050405020303" pitchFamily="18" charset="0"/>
              </a:rPr>
              <a:t> „</a:t>
            </a:r>
            <a:r>
              <a:rPr lang="ru-RU" sz="1900" dirty="0" err="1">
                <a:latin typeface="Georgia" panose="02040502050405020303" pitchFamily="18" charset="0"/>
              </a:rPr>
              <a:t>Използвани</a:t>
            </a:r>
            <a:r>
              <a:rPr lang="ru-RU" sz="1900" dirty="0">
                <a:latin typeface="Georgia" panose="02040502050405020303" pitchFamily="18" charset="0"/>
              </a:rPr>
              <a:t> технологии“, се </a:t>
            </a:r>
            <a:r>
              <a:rPr lang="ru-RU" sz="1900" dirty="0" err="1">
                <a:latin typeface="Georgia" panose="02040502050405020303" pitchFamily="18" charset="0"/>
              </a:rPr>
              <a:t>описват</a:t>
            </a:r>
            <a:r>
              <a:rPr lang="ru-RU" sz="1900" dirty="0">
                <a:latin typeface="Georgia" panose="02040502050405020303" pitchFamily="18" charset="0"/>
              </a:rPr>
              <a:t> подробно </a:t>
            </a:r>
            <a:r>
              <a:rPr lang="ru-RU" sz="1900" dirty="0" err="1">
                <a:latin typeface="Georgia" panose="02040502050405020303" pitchFamily="18" charset="0"/>
              </a:rPr>
              <a:t>технологиите</a:t>
            </a:r>
            <a:r>
              <a:rPr lang="ru-RU" sz="1900" dirty="0">
                <a:latin typeface="Georgia" panose="02040502050405020303" pitchFamily="18" charset="0"/>
              </a:rPr>
              <a:t>, </a:t>
            </a:r>
            <a:r>
              <a:rPr lang="ru-RU" sz="1900" dirty="0" err="1">
                <a:latin typeface="Georgia" panose="02040502050405020303" pitchFamily="18" charset="0"/>
              </a:rPr>
              <a:t>които</a:t>
            </a:r>
            <a:r>
              <a:rPr lang="ru-RU" sz="1900" dirty="0">
                <a:latin typeface="Georgia" panose="02040502050405020303" pitchFamily="18" charset="0"/>
              </a:rPr>
              <a:t> </a:t>
            </a:r>
            <a:r>
              <a:rPr lang="ru-RU" sz="1900" dirty="0" err="1">
                <a:latin typeface="Georgia" panose="02040502050405020303" pitchFamily="18" charset="0"/>
              </a:rPr>
              <a:t>ще</a:t>
            </a:r>
            <a:r>
              <a:rPr lang="ru-RU" sz="1900" dirty="0">
                <a:latin typeface="Georgia" panose="02040502050405020303" pitchFamily="18" charset="0"/>
              </a:rPr>
              <a:t> </a:t>
            </a:r>
            <a:r>
              <a:rPr lang="ru-RU" sz="1900" dirty="0" err="1">
                <a:latin typeface="Georgia" panose="02040502050405020303" pitchFamily="18" charset="0"/>
              </a:rPr>
              <a:t>бъдат</a:t>
            </a:r>
            <a:r>
              <a:rPr lang="ru-RU" sz="1900" dirty="0">
                <a:latin typeface="Georgia" panose="02040502050405020303" pitchFamily="18" charset="0"/>
              </a:rPr>
              <a:t> </a:t>
            </a:r>
            <a:r>
              <a:rPr lang="ru-RU" sz="1900" dirty="0" err="1">
                <a:latin typeface="Georgia" panose="02040502050405020303" pitchFamily="18" charset="0"/>
              </a:rPr>
              <a:t>използвани</a:t>
            </a:r>
            <a:r>
              <a:rPr lang="ru-RU" sz="1900" dirty="0">
                <a:latin typeface="Georgia" panose="02040502050405020303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1900" dirty="0">
                <a:latin typeface="Georgia" panose="02040502050405020303" pitchFamily="18" charset="0"/>
              </a:rPr>
              <a:t>В Глава </a:t>
            </a:r>
            <a:r>
              <a:rPr lang="ru-RU" sz="1900" dirty="0" err="1">
                <a:latin typeface="Georgia" panose="02040502050405020303" pitchFamily="18" charset="0"/>
              </a:rPr>
              <a:t>трета</a:t>
            </a:r>
            <a:r>
              <a:rPr lang="ru-RU" sz="1900" dirty="0">
                <a:latin typeface="Georgia" panose="02040502050405020303" pitchFamily="18" charset="0"/>
              </a:rPr>
              <a:t>, </a:t>
            </a:r>
            <a:r>
              <a:rPr lang="ru-RU" sz="1900" dirty="0" err="1">
                <a:latin typeface="Georgia" panose="02040502050405020303" pitchFamily="18" charset="0"/>
              </a:rPr>
              <a:t>озаглавена</a:t>
            </a:r>
            <a:r>
              <a:rPr lang="ru-RU" sz="1900" dirty="0">
                <a:latin typeface="Georgia" panose="02040502050405020303" pitchFamily="18" charset="0"/>
              </a:rPr>
              <a:t> „</a:t>
            </a:r>
            <a:r>
              <a:rPr lang="ru-RU" sz="1900" dirty="0" err="1">
                <a:latin typeface="Georgia" panose="02040502050405020303" pitchFamily="18" charset="0"/>
              </a:rPr>
              <a:t>Проектиране</a:t>
            </a:r>
            <a:r>
              <a:rPr lang="ru-RU" sz="1900" dirty="0">
                <a:latin typeface="Georgia" panose="02040502050405020303" pitchFamily="18" charset="0"/>
              </a:rPr>
              <a:t> и </a:t>
            </a:r>
            <a:r>
              <a:rPr lang="ru-RU" sz="1900" dirty="0" err="1">
                <a:latin typeface="Georgia" panose="02040502050405020303" pitchFamily="18" charset="0"/>
              </a:rPr>
              <a:t>функционалност</a:t>
            </a:r>
            <a:r>
              <a:rPr lang="ru-RU" sz="1900" dirty="0">
                <a:latin typeface="Georgia" panose="02040502050405020303" pitchFamily="18" charset="0"/>
              </a:rPr>
              <a:t> на </a:t>
            </a:r>
            <a:r>
              <a:rPr lang="ru-RU" sz="1900" dirty="0" err="1">
                <a:latin typeface="Georgia" panose="02040502050405020303" pitchFamily="18" charset="0"/>
              </a:rPr>
              <a:t>платформата</a:t>
            </a:r>
            <a:r>
              <a:rPr lang="ru-RU" sz="1900" dirty="0">
                <a:latin typeface="Georgia" panose="02040502050405020303" pitchFamily="18" charset="0"/>
              </a:rPr>
              <a:t>“, се </a:t>
            </a:r>
            <a:r>
              <a:rPr lang="ru-RU" sz="1900" dirty="0" err="1">
                <a:latin typeface="Georgia" panose="02040502050405020303" pitchFamily="18" charset="0"/>
              </a:rPr>
              <a:t>разглеждат</a:t>
            </a:r>
            <a:r>
              <a:rPr lang="ru-RU" sz="1900" dirty="0">
                <a:latin typeface="Georgia" panose="02040502050405020303" pitchFamily="18" charset="0"/>
              </a:rPr>
              <a:t> </a:t>
            </a:r>
            <a:r>
              <a:rPr lang="ru-RU" sz="1900" dirty="0" err="1">
                <a:latin typeface="Georgia" panose="02040502050405020303" pitchFamily="18" charset="0"/>
              </a:rPr>
              <a:t>функционалните</a:t>
            </a:r>
            <a:r>
              <a:rPr lang="ru-RU" sz="1900" dirty="0">
                <a:latin typeface="Georgia" panose="02040502050405020303" pitchFamily="18" charset="0"/>
              </a:rPr>
              <a:t> </a:t>
            </a:r>
            <a:r>
              <a:rPr lang="ru-RU" sz="1900" dirty="0" err="1">
                <a:latin typeface="Georgia" panose="02040502050405020303" pitchFamily="18" charset="0"/>
              </a:rPr>
              <a:t>процеси</a:t>
            </a:r>
            <a:r>
              <a:rPr lang="ru-RU" sz="1900" dirty="0">
                <a:latin typeface="Georgia" panose="02040502050405020303" pitchFamily="18" charset="0"/>
              </a:rPr>
              <a:t>, </a:t>
            </a:r>
            <a:r>
              <a:rPr lang="ru-RU" sz="1900" dirty="0" err="1">
                <a:latin typeface="Georgia" panose="02040502050405020303" pitchFamily="18" charset="0"/>
              </a:rPr>
              <a:t>през</a:t>
            </a:r>
            <a:r>
              <a:rPr lang="ru-RU" sz="1900" dirty="0">
                <a:latin typeface="Georgia" panose="02040502050405020303" pitchFamily="18" charset="0"/>
              </a:rPr>
              <a:t> </a:t>
            </a:r>
            <a:r>
              <a:rPr lang="ru-RU" sz="1900" dirty="0" err="1">
                <a:latin typeface="Georgia" panose="02040502050405020303" pitchFamily="18" charset="0"/>
              </a:rPr>
              <a:t>които</a:t>
            </a:r>
            <a:r>
              <a:rPr lang="ru-RU" sz="1900" dirty="0">
                <a:latin typeface="Georgia" panose="02040502050405020303" pitchFamily="18" charset="0"/>
              </a:rPr>
              <a:t> </a:t>
            </a:r>
            <a:r>
              <a:rPr lang="ru-RU" sz="1900" dirty="0" err="1">
                <a:latin typeface="Georgia" panose="02040502050405020303" pitchFamily="18" charset="0"/>
              </a:rPr>
              <a:t>преминава</a:t>
            </a:r>
            <a:r>
              <a:rPr lang="ru-RU" sz="1900" dirty="0">
                <a:latin typeface="Georgia" panose="02040502050405020303" pitchFamily="18" charset="0"/>
              </a:rPr>
              <a:t> </a:t>
            </a:r>
            <a:r>
              <a:rPr lang="ru-RU" sz="1900" dirty="0" err="1">
                <a:latin typeface="Georgia" panose="02040502050405020303" pitchFamily="18" charset="0"/>
              </a:rPr>
              <a:t>потребителят</a:t>
            </a:r>
            <a:r>
              <a:rPr lang="ru-RU" sz="1900" dirty="0">
                <a:latin typeface="Georgia" panose="02040502050405020303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1900" dirty="0">
                <a:latin typeface="Georgia" panose="02040502050405020303" pitchFamily="18" charset="0"/>
              </a:rPr>
              <a:t>В Глава </a:t>
            </a:r>
            <a:r>
              <a:rPr lang="ru-RU" sz="1900" dirty="0" err="1">
                <a:latin typeface="Georgia" panose="02040502050405020303" pitchFamily="18" charset="0"/>
              </a:rPr>
              <a:t>четвърта</a:t>
            </a:r>
            <a:r>
              <a:rPr lang="ru-RU" sz="1900" dirty="0">
                <a:latin typeface="Georgia" panose="02040502050405020303" pitchFamily="18" charset="0"/>
              </a:rPr>
              <a:t>, </a:t>
            </a:r>
            <a:r>
              <a:rPr lang="ru-RU" sz="1900" dirty="0" err="1">
                <a:latin typeface="Georgia" panose="02040502050405020303" pitchFamily="18" charset="0"/>
              </a:rPr>
              <a:t>озаглавена</a:t>
            </a:r>
            <a:r>
              <a:rPr lang="ru-RU" sz="1900" dirty="0">
                <a:latin typeface="Georgia" panose="02040502050405020303" pitchFamily="18" charset="0"/>
              </a:rPr>
              <a:t> „Реализация и </a:t>
            </a:r>
            <a:r>
              <a:rPr lang="ru-RU" sz="1900" dirty="0" err="1">
                <a:latin typeface="Georgia" panose="02040502050405020303" pitchFamily="18" charset="0"/>
              </a:rPr>
              <a:t>програмен</a:t>
            </a:r>
            <a:r>
              <a:rPr lang="ru-RU" sz="1900" dirty="0">
                <a:latin typeface="Georgia" panose="02040502050405020303" pitchFamily="18" charset="0"/>
              </a:rPr>
              <a:t> код“, се </a:t>
            </a:r>
            <a:r>
              <a:rPr lang="ru-RU" sz="1900" dirty="0" err="1">
                <a:latin typeface="Georgia" panose="02040502050405020303" pitchFamily="18" charset="0"/>
              </a:rPr>
              <a:t>обяснява</a:t>
            </a:r>
            <a:r>
              <a:rPr lang="ru-RU" sz="1900" dirty="0">
                <a:latin typeface="Georgia" panose="02040502050405020303" pitchFamily="18" charset="0"/>
              </a:rPr>
              <a:t> как </a:t>
            </a:r>
            <a:r>
              <a:rPr lang="ru-RU" sz="1900" dirty="0" err="1">
                <a:latin typeface="Georgia" panose="02040502050405020303" pitchFamily="18" charset="0"/>
              </a:rPr>
              <a:t>са</a:t>
            </a:r>
            <a:r>
              <a:rPr lang="ru-RU" sz="1900" dirty="0">
                <a:latin typeface="Georgia" panose="02040502050405020303" pitchFamily="18" charset="0"/>
              </a:rPr>
              <a:t> </a:t>
            </a:r>
            <a:r>
              <a:rPr lang="ru-RU" sz="1900" dirty="0" err="1">
                <a:latin typeface="Georgia" panose="02040502050405020303" pitchFamily="18" charset="0"/>
              </a:rPr>
              <a:t>реализирани</a:t>
            </a:r>
            <a:r>
              <a:rPr lang="ru-RU" sz="1900" dirty="0">
                <a:latin typeface="Georgia" panose="02040502050405020303" pitchFamily="18" charset="0"/>
              </a:rPr>
              <a:t> </a:t>
            </a:r>
            <a:r>
              <a:rPr lang="ru-RU" sz="1900" dirty="0" err="1">
                <a:latin typeface="Georgia" panose="02040502050405020303" pitchFamily="18" charset="0"/>
              </a:rPr>
              <a:t>отделните</a:t>
            </a:r>
            <a:r>
              <a:rPr lang="ru-RU" sz="1900" dirty="0">
                <a:latin typeface="Georgia" panose="02040502050405020303" pitchFamily="18" charset="0"/>
              </a:rPr>
              <a:t> </a:t>
            </a:r>
            <a:r>
              <a:rPr lang="ru-RU" sz="1900" dirty="0" err="1">
                <a:latin typeface="Georgia" panose="02040502050405020303" pitchFamily="18" charset="0"/>
              </a:rPr>
              <a:t>компоненти</a:t>
            </a:r>
            <a:r>
              <a:rPr lang="ru-RU" sz="1900" dirty="0">
                <a:latin typeface="Georgia" panose="02040502050405020303" pitchFamily="18" charset="0"/>
              </a:rPr>
              <a:t> на </a:t>
            </a:r>
            <a:r>
              <a:rPr lang="ru-RU" sz="1900" dirty="0" err="1">
                <a:latin typeface="Georgia" panose="02040502050405020303" pitchFamily="18" charset="0"/>
              </a:rPr>
              <a:t>системата</a:t>
            </a:r>
            <a:r>
              <a:rPr lang="ru-RU" sz="1900" dirty="0">
                <a:latin typeface="Georgia" panose="02040502050405020303" pitchFamily="18" charset="0"/>
              </a:rPr>
              <a:t> чрез </a:t>
            </a:r>
            <a:r>
              <a:rPr lang="ru-RU" sz="1900" dirty="0" err="1">
                <a:latin typeface="Georgia" panose="02040502050405020303" pitchFamily="18" charset="0"/>
              </a:rPr>
              <a:t>програмен</a:t>
            </a:r>
            <a:r>
              <a:rPr lang="ru-RU" sz="1900" dirty="0">
                <a:latin typeface="Georgia" panose="02040502050405020303" pitchFamily="18" charset="0"/>
              </a:rPr>
              <a:t> код.</a:t>
            </a:r>
            <a:endParaRPr lang="bg-BG" sz="19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656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57BE235-88DE-1007-D87C-C33B957A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430895"/>
            <a:ext cx="4621162" cy="1049235"/>
          </a:xfrm>
        </p:spPr>
        <p:txBody>
          <a:bodyPr>
            <a:normAutofit/>
          </a:bodyPr>
          <a:lstStyle/>
          <a:p>
            <a:pPr algn="ctr"/>
            <a:r>
              <a:rPr lang="bg-BG" sz="4800" b="1" dirty="0">
                <a:latin typeface="Georgia" panose="02040502050405020303" pitchFamily="18" charset="0"/>
              </a:rPr>
              <a:t>Актуалност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E9C5260-AECC-C8AB-62A6-5E9669A4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2015733"/>
            <a:ext cx="8681884" cy="3972112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latin typeface="Georgia" panose="02040502050405020303" pitchFamily="18" charset="0"/>
              </a:rPr>
              <a:t>В хода на </a:t>
            </a:r>
            <a:r>
              <a:rPr lang="ru-RU" dirty="0" err="1">
                <a:latin typeface="Georgia" panose="02040502050405020303" pitchFamily="18" charset="0"/>
              </a:rPr>
              <a:t>подготовката</a:t>
            </a:r>
            <a:r>
              <a:rPr lang="ru-RU" dirty="0">
                <a:latin typeface="Georgia" panose="02040502050405020303" pitchFamily="18" charset="0"/>
              </a:rPr>
              <a:t> на </a:t>
            </a:r>
            <a:r>
              <a:rPr lang="ru-RU" dirty="0" err="1">
                <a:latin typeface="Georgia" panose="02040502050405020303" pitchFamily="18" charset="0"/>
              </a:rPr>
              <a:t>настоящата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дипломна</a:t>
            </a:r>
            <a:r>
              <a:rPr lang="ru-RU" dirty="0">
                <a:latin typeface="Georgia" panose="02040502050405020303" pitchFamily="18" charset="0"/>
              </a:rPr>
              <a:t> работа </a:t>
            </a:r>
            <a:r>
              <a:rPr lang="ru-RU" dirty="0" err="1">
                <a:latin typeface="Georgia" panose="02040502050405020303" pitchFamily="18" charset="0"/>
              </a:rPr>
              <a:t>бяха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разгледани</a:t>
            </a:r>
            <a:r>
              <a:rPr lang="ru-RU" dirty="0">
                <a:latin typeface="Georgia" panose="02040502050405020303" pitchFamily="18" charset="0"/>
              </a:rPr>
              <a:t> множество </a:t>
            </a:r>
            <a:r>
              <a:rPr lang="ru-RU" dirty="0" err="1">
                <a:latin typeface="Georgia" panose="02040502050405020303" pitchFamily="18" charset="0"/>
              </a:rPr>
              <a:t>софтуерни</a:t>
            </a:r>
            <a:r>
              <a:rPr lang="ru-RU" dirty="0">
                <a:latin typeface="Georgia" panose="02040502050405020303" pitchFamily="18" charset="0"/>
              </a:rPr>
              <a:t> реализации </a:t>
            </a:r>
            <a:r>
              <a:rPr lang="ru-RU" dirty="0" err="1">
                <a:latin typeface="Georgia" panose="02040502050405020303" pitchFamily="18" charset="0"/>
              </a:rPr>
              <a:t>със</a:t>
            </a:r>
            <a:r>
              <a:rPr lang="ru-RU" dirty="0">
                <a:latin typeface="Georgia" panose="02040502050405020303" pitchFamily="18" charset="0"/>
              </a:rPr>
              <a:t> сходна </a:t>
            </a:r>
            <a:r>
              <a:rPr lang="ru-RU" dirty="0" err="1">
                <a:latin typeface="Georgia" panose="02040502050405020303" pitchFamily="18" charset="0"/>
              </a:rPr>
              <a:t>насоченост</a:t>
            </a:r>
            <a:r>
              <a:rPr lang="ru-RU" dirty="0">
                <a:latin typeface="Georgia" panose="02040502050405020303" pitchFamily="18" charset="0"/>
              </a:rPr>
              <a:t> в интернет.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 err="1"/>
              <a:t>Анализът</a:t>
            </a:r>
            <a:r>
              <a:rPr lang="ru-RU" dirty="0"/>
              <a:t> </a:t>
            </a:r>
            <a:r>
              <a:rPr lang="ru-RU" dirty="0" err="1"/>
              <a:t>имаше</a:t>
            </a:r>
            <a:r>
              <a:rPr lang="ru-RU" dirty="0"/>
              <a:t> за задача да </a:t>
            </a:r>
            <a:r>
              <a:rPr lang="ru-RU" dirty="0" err="1"/>
              <a:t>изследва</a:t>
            </a:r>
            <a:r>
              <a:rPr lang="ru-RU" dirty="0"/>
              <a:t> </a:t>
            </a:r>
            <a:r>
              <a:rPr lang="ru-RU" dirty="0" err="1"/>
              <a:t>съответните</a:t>
            </a:r>
            <a:r>
              <a:rPr lang="ru-RU" dirty="0"/>
              <a:t> </a:t>
            </a:r>
            <a:r>
              <a:rPr lang="ru-RU" dirty="0" err="1"/>
              <a:t>мобилно</a:t>
            </a:r>
            <a:r>
              <a:rPr lang="ru-RU" dirty="0"/>
              <a:t> </a:t>
            </a:r>
            <a:r>
              <a:rPr lang="ru-RU" dirty="0" err="1"/>
              <a:t>базирани</a:t>
            </a:r>
            <a:r>
              <a:rPr lang="ru-RU" dirty="0"/>
              <a:t> решения, за да се </a:t>
            </a:r>
            <a:r>
              <a:rPr lang="ru-RU" dirty="0" err="1"/>
              <a:t>постигне</a:t>
            </a:r>
            <a:r>
              <a:rPr lang="ru-RU" dirty="0"/>
              <a:t> </a:t>
            </a:r>
            <a:r>
              <a:rPr lang="ru-RU" dirty="0" err="1"/>
              <a:t>по-голяма</a:t>
            </a:r>
            <a:r>
              <a:rPr lang="ru-RU" dirty="0"/>
              <a:t> </a:t>
            </a:r>
            <a:r>
              <a:rPr lang="ru-RU" dirty="0" err="1"/>
              <a:t>яснота</a:t>
            </a:r>
            <a:r>
              <a:rPr lang="ru-RU" dirty="0"/>
              <a:t> </a:t>
            </a:r>
            <a:r>
              <a:rPr lang="ru-RU" dirty="0" err="1"/>
              <a:t>относно</a:t>
            </a:r>
            <a:r>
              <a:rPr lang="ru-RU" dirty="0"/>
              <a:t> </a:t>
            </a:r>
            <a:r>
              <a:rPr lang="ru-RU" dirty="0" err="1"/>
              <a:t>дефинирането</a:t>
            </a:r>
            <a:r>
              <a:rPr lang="ru-RU" dirty="0"/>
              <a:t> на </a:t>
            </a:r>
            <a:r>
              <a:rPr lang="ru-RU" dirty="0" err="1"/>
              <a:t>основните</a:t>
            </a:r>
            <a:r>
              <a:rPr lang="ru-RU" dirty="0"/>
              <a:t> </a:t>
            </a:r>
            <a:r>
              <a:rPr lang="ru-RU" dirty="0" err="1"/>
              <a:t>функционалности</a:t>
            </a:r>
            <a:r>
              <a:rPr lang="ru-RU" dirty="0"/>
              <a:t>, </a:t>
            </a:r>
            <a:r>
              <a:rPr lang="ru-RU" dirty="0" err="1"/>
              <a:t>които</a:t>
            </a:r>
            <a:r>
              <a:rPr lang="ru-RU" dirty="0"/>
              <a:t> </a:t>
            </a:r>
            <a:r>
              <a:rPr lang="ru-RU" dirty="0" err="1"/>
              <a:t>предстои</a:t>
            </a:r>
            <a:r>
              <a:rPr lang="ru-RU" dirty="0"/>
              <a:t> да </a:t>
            </a:r>
            <a:r>
              <a:rPr lang="ru-RU" dirty="0" err="1"/>
              <a:t>бъдат</a:t>
            </a:r>
            <a:r>
              <a:rPr lang="ru-RU" dirty="0"/>
              <a:t> </a:t>
            </a:r>
            <a:r>
              <a:rPr lang="ru-RU" dirty="0" err="1"/>
              <a:t>разработени</a:t>
            </a:r>
            <a:r>
              <a:rPr lang="ru-RU" dirty="0"/>
              <a:t>.</a:t>
            </a:r>
            <a:endParaRPr lang="bg-BG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741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57BE235-88DE-1007-D87C-C33B957A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430895"/>
            <a:ext cx="4621162" cy="1049235"/>
          </a:xfrm>
        </p:spPr>
        <p:txBody>
          <a:bodyPr>
            <a:normAutofit/>
          </a:bodyPr>
          <a:lstStyle/>
          <a:p>
            <a:pPr algn="ctr"/>
            <a:r>
              <a:rPr lang="bg-BG" sz="4800" b="1" dirty="0">
                <a:latin typeface="Georgia" panose="02040502050405020303" pitchFamily="18" charset="0"/>
              </a:rPr>
              <a:t>Актуалност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E9C5260-AECC-C8AB-62A6-5E9669A4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2015733"/>
            <a:ext cx="8681884" cy="397211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latin typeface="Georgia" panose="02040502050405020303" pitchFamily="18" charset="0"/>
              </a:rPr>
              <a:t>Основните критерии за сравнение на </a:t>
            </a:r>
            <a:r>
              <a:rPr lang="ru-RU" dirty="0" err="1">
                <a:latin typeface="Georgia" panose="02040502050405020303" pitchFamily="18" charset="0"/>
              </a:rPr>
              <a:t>съществуващите</a:t>
            </a:r>
            <a:r>
              <a:rPr lang="ru-RU" dirty="0">
                <a:latin typeface="Georgia" panose="02040502050405020303" pitchFamily="18" charset="0"/>
              </a:rPr>
              <a:t> решения </a:t>
            </a:r>
            <a:r>
              <a:rPr lang="ru-RU" dirty="0" err="1">
                <a:latin typeface="Georgia" panose="02040502050405020303" pitchFamily="18" charset="0"/>
              </a:rPr>
              <a:t>са</a:t>
            </a:r>
            <a:r>
              <a:rPr lang="ru-RU" dirty="0">
                <a:latin typeface="Georgia" panose="02040502050405020303" pitchFamily="18" charset="0"/>
              </a:rPr>
              <a:t>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Georgia" panose="02040502050405020303" pitchFamily="18" charset="0"/>
              </a:rPr>
              <a:t>Целева </a:t>
            </a:r>
            <a:r>
              <a:rPr lang="ru-RU" sz="2000" dirty="0" err="1">
                <a:latin typeface="Georgia" panose="02040502050405020303" pitchFamily="18" charset="0"/>
              </a:rPr>
              <a:t>група</a:t>
            </a:r>
            <a:endParaRPr lang="ru-RU" sz="2000" dirty="0">
              <a:latin typeface="Georgia" panose="02040502050405020303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Georgia" panose="02040502050405020303" pitchFamily="18" charset="0"/>
              </a:rPr>
              <a:t>Графичен </a:t>
            </a:r>
            <a:r>
              <a:rPr lang="ru-RU" sz="2000" dirty="0" err="1">
                <a:latin typeface="Georgia" panose="02040502050405020303" pitchFamily="18" charset="0"/>
              </a:rPr>
              <a:t>потребителски</a:t>
            </a:r>
            <a:r>
              <a:rPr lang="ru-RU" sz="2000" dirty="0">
                <a:latin typeface="Georgia" panose="02040502050405020303" pitchFamily="18" charset="0"/>
              </a:rPr>
              <a:t> интерфейс (дизайн)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Georgia" panose="02040502050405020303" pitchFamily="18" charset="0"/>
              </a:rPr>
              <a:t>Навигация (</a:t>
            </a:r>
            <a:r>
              <a:rPr lang="ru-RU" sz="2000" dirty="0" err="1">
                <a:latin typeface="Georgia" panose="02040502050405020303" pitchFamily="18" charset="0"/>
              </a:rPr>
              <a:t>достъпност</a:t>
            </a:r>
            <a:r>
              <a:rPr lang="ru-RU" sz="2000" dirty="0">
                <a:latin typeface="Georgia" panose="02040502050405020303" pitchFamily="18" charset="0"/>
              </a:rPr>
              <a:t> на </a:t>
            </a:r>
            <a:r>
              <a:rPr lang="ru-RU" sz="2000" dirty="0" err="1">
                <a:latin typeface="Georgia" panose="02040502050405020303" pitchFamily="18" charset="0"/>
              </a:rPr>
              <a:t>приложението</a:t>
            </a:r>
            <a:r>
              <a:rPr lang="ru-RU" sz="2000" dirty="0">
                <a:latin typeface="Georgia" panose="02040502050405020303" pitchFamily="18" charset="0"/>
              </a:rPr>
              <a:t>)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 err="1">
                <a:latin typeface="Georgia" panose="02040502050405020303" pitchFamily="18" charset="0"/>
              </a:rPr>
              <a:t>Съдържание</a:t>
            </a:r>
            <a:r>
              <a:rPr lang="ru-RU" sz="2000" dirty="0">
                <a:latin typeface="Georgia" panose="02040502050405020303" pitchFamily="18" charset="0"/>
              </a:rPr>
              <a:t> (</a:t>
            </a:r>
            <a:r>
              <a:rPr lang="bg-BG" sz="2000" dirty="0">
                <a:latin typeface="Georgia" panose="02040502050405020303" pitchFamily="18" charset="0"/>
              </a:rPr>
              <a:t>значимост</a:t>
            </a:r>
            <a:r>
              <a:rPr lang="ru-RU" sz="2000" dirty="0">
                <a:latin typeface="Georgia" panose="02040502050405020303" pitchFamily="18" charset="0"/>
              </a:rPr>
              <a:t> и </a:t>
            </a:r>
            <a:r>
              <a:rPr lang="ru-RU" sz="2000" dirty="0" err="1">
                <a:latin typeface="Georgia" panose="02040502050405020303" pitchFamily="18" charset="0"/>
              </a:rPr>
              <a:t>структурираност</a:t>
            </a:r>
            <a:r>
              <a:rPr lang="ru-RU" sz="2000" dirty="0">
                <a:latin typeface="Georgia" panose="02040502050405020303" pitchFamily="18" charset="0"/>
              </a:rPr>
              <a:t> на </a:t>
            </a:r>
            <a:r>
              <a:rPr lang="ru-RU" sz="2000" dirty="0" err="1">
                <a:latin typeface="Georgia" panose="02040502050405020303" pitchFamily="18" charset="0"/>
              </a:rPr>
              <a:t>информацията</a:t>
            </a:r>
            <a:r>
              <a:rPr lang="ru-RU" sz="2000" dirty="0">
                <a:latin typeface="Georgia" panose="02040502050405020303" pitchFamily="18" charset="0"/>
              </a:rPr>
              <a:t>)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 err="1">
                <a:latin typeface="Georgia" panose="02040502050405020303" pitchFamily="18" charset="0"/>
              </a:rPr>
              <a:t>Потребителска</a:t>
            </a:r>
            <a:r>
              <a:rPr lang="ru-RU" sz="2000" dirty="0">
                <a:latin typeface="Georgia" panose="02040502050405020303" pitchFamily="18" charset="0"/>
              </a:rPr>
              <a:t> оценка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741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57BE235-88DE-1007-D87C-C33B957A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6" y="430895"/>
            <a:ext cx="8681883" cy="876795"/>
          </a:xfrm>
        </p:spPr>
        <p:txBody>
          <a:bodyPr>
            <a:noAutofit/>
          </a:bodyPr>
          <a:lstStyle/>
          <a:p>
            <a:r>
              <a:rPr lang="bg-BG" sz="4000" b="1" dirty="0">
                <a:latin typeface="Georgia" panose="02040502050405020303" pitchFamily="18" charset="0"/>
              </a:rPr>
              <a:t>Използвани технологии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E9C5260-AECC-C8AB-62A6-5E9669A4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2015733"/>
            <a:ext cx="8681884" cy="397211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latin typeface="Georgia" panose="02040502050405020303" pitchFamily="18" charset="0"/>
              </a:rPr>
              <a:t>За </a:t>
            </a:r>
            <a:r>
              <a:rPr lang="ru-RU" dirty="0" err="1">
                <a:latin typeface="Georgia" panose="02040502050405020303" pitchFamily="18" charset="0"/>
              </a:rPr>
              <a:t>реализацията</a:t>
            </a:r>
            <a:r>
              <a:rPr lang="ru-RU" dirty="0">
                <a:latin typeface="Georgia" panose="02040502050405020303" pitchFamily="18" charset="0"/>
              </a:rPr>
              <a:t> на </a:t>
            </a:r>
            <a:r>
              <a:rPr lang="ru-RU" dirty="0" err="1">
                <a:latin typeface="Georgia" panose="02040502050405020303" pitchFamily="18" charset="0"/>
              </a:rPr>
              <a:t>мобилната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апликация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са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използвани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следните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актуални</a:t>
            </a:r>
            <a:r>
              <a:rPr lang="ru-RU" dirty="0">
                <a:latin typeface="Georgia" panose="02040502050405020303" pitchFamily="18" charset="0"/>
              </a:rPr>
              <a:t> технологии за </a:t>
            </a:r>
            <a:r>
              <a:rPr lang="ru-RU" dirty="0" err="1">
                <a:latin typeface="Georgia" panose="02040502050405020303" pitchFamily="18" charset="0"/>
              </a:rPr>
              <a:t>програмиране</a:t>
            </a:r>
            <a:r>
              <a:rPr lang="ru-RU" dirty="0">
                <a:latin typeface="Georgia" panose="02040502050405020303" pitchFamily="18" charset="0"/>
              </a:rPr>
              <a:t>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Georgia" panose="02040502050405020303" pitchFamily="18" charset="0"/>
              </a:rPr>
              <a:t>Flutter</a:t>
            </a:r>
            <a:endParaRPr lang="ru-RU" sz="2000" dirty="0">
              <a:latin typeface="Georgia" panose="02040502050405020303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Georgia" panose="02040502050405020303" pitchFamily="18" charset="0"/>
              </a:rPr>
              <a:t>Dart</a:t>
            </a:r>
            <a:endParaRPr lang="ru-RU" sz="2000" dirty="0">
              <a:latin typeface="Georgia" panose="02040502050405020303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Georgia" panose="02040502050405020303" pitchFamily="18" charset="0"/>
              </a:rPr>
              <a:t>Firebase</a:t>
            </a:r>
            <a:endParaRPr lang="ru-RU" sz="2000" dirty="0">
              <a:latin typeface="Georgia" panose="02040502050405020303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Georgia" panose="02040502050405020303" pitchFamily="18" charset="0"/>
              </a:rPr>
              <a:t>Cloud </a:t>
            </a:r>
            <a:r>
              <a:rPr lang="en-US" sz="2000" dirty="0" err="1">
                <a:latin typeface="Georgia" panose="02040502050405020303" pitchFamily="18" charset="0"/>
              </a:rPr>
              <a:t>Firestore</a:t>
            </a:r>
            <a:endParaRPr lang="ru-RU" sz="2000" dirty="0">
              <a:latin typeface="Georgia" panose="02040502050405020303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Georgia" panose="02040502050405020303" pitchFamily="18" charset="0"/>
              </a:rPr>
              <a:t>NoSQL</a:t>
            </a:r>
            <a:endParaRPr lang="ru-RU" sz="2000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614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57BE235-88DE-1007-D87C-C33B957A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6" y="430895"/>
            <a:ext cx="8681883" cy="719479"/>
          </a:xfrm>
        </p:spPr>
        <p:txBody>
          <a:bodyPr>
            <a:noAutofit/>
          </a:bodyPr>
          <a:lstStyle/>
          <a:p>
            <a:r>
              <a:rPr lang="bg-BG" sz="4800" b="1" dirty="0">
                <a:latin typeface="Georgia" panose="02040502050405020303" pitchFamily="18" charset="0"/>
              </a:rPr>
              <a:t>Проектиране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E9C5260-AECC-C8AB-62A6-5E9669A4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671485"/>
            <a:ext cx="8681884" cy="55060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latin typeface="Georgia" panose="02040502050405020303" pitchFamily="18" charset="0"/>
              </a:rPr>
              <a:t>Нива на </a:t>
            </a:r>
            <a:r>
              <a:rPr lang="ru-RU" dirty="0" err="1">
                <a:latin typeface="Georgia" panose="02040502050405020303" pitchFamily="18" charset="0"/>
              </a:rPr>
              <a:t>достъп</a:t>
            </a:r>
            <a:r>
              <a:rPr lang="ru-RU" dirty="0">
                <a:latin typeface="Georgia" panose="02040502050405020303" pitchFamily="18" charset="0"/>
              </a:rPr>
              <a:t> в </a:t>
            </a:r>
            <a:r>
              <a:rPr lang="ru-RU" dirty="0" err="1">
                <a:latin typeface="Georgia" panose="02040502050405020303" pitchFamily="18" charset="0"/>
              </a:rPr>
              <a:t>мобилното</a:t>
            </a:r>
            <a:r>
              <a:rPr lang="ru-RU" dirty="0">
                <a:latin typeface="Georgia" panose="02040502050405020303" pitchFamily="18" charset="0"/>
              </a:rPr>
              <a:t> приложение</a:t>
            </a: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C3037215-6F20-E0AC-4CFD-0572833F7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600" y="2222090"/>
            <a:ext cx="6022800" cy="382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57BE235-88DE-1007-D87C-C33B957A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6" y="430895"/>
            <a:ext cx="8681883" cy="719479"/>
          </a:xfrm>
        </p:spPr>
        <p:txBody>
          <a:bodyPr>
            <a:noAutofit/>
          </a:bodyPr>
          <a:lstStyle/>
          <a:p>
            <a:r>
              <a:rPr lang="bg-BG" sz="4800" b="1" dirty="0">
                <a:latin typeface="Georgia" panose="02040502050405020303" pitchFamily="18" charset="0"/>
              </a:rPr>
              <a:t>Проектиране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E9C5260-AECC-C8AB-62A6-5E9669A4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6" y="2550242"/>
            <a:ext cx="3038168" cy="1757515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ru-RU" dirty="0" err="1">
                <a:latin typeface="Georgia" panose="02040502050405020303" pitchFamily="18" charset="0"/>
              </a:rPr>
              <a:t>Цялостна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диаграма</a:t>
            </a:r>
            <a:endParaRPr lang="ru-RU" dirty="0">
              <a:latin typeface="Georgia" panose="02040502050405020303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ru-RU" dirty="0">
                <a:latin typeface="Georgia" panose="02040502050405020303" pitchFamily="18" charset="0"/>
              </a:rPr>
              <a:t> на </a:t>
            </a:r>
            <a:r>
              <a:rPr lang="ru-RU" dirty="0" err="1">
                <a:latin typeface="Georgia" panose="02040502050405020303" pitchFamily="18" charset="0"/>
              </a:rPr>
              <a:t>мобилното</a:t>
            </a:r>
            <a:r>
              <a:rPr lang="ru-RU" dirty="0">
                <a:latin typeface="Georgia" panose="02040502050405020303" pitchFamily="18" charset="0"/>
              </a:rPr>
              <a:t> приложение</a:t>
            </a: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2C05D71E-D832-A037-8CE1-64220A52D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586" y="1150374"/>
            <a:ext cx="4685773" cy="55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549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57BE235-88DE-1007-D87C-C33B957A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6" y="430895"/>
            <a:ext cx="8681883" cy="719479"/>
          </a:xfrm>
        </p:spPr>
        <p:txBody>
          <a:bodyPr>
            <a:noAutofit/>
          </a:bodyPr>
          <a:lstStyle/>
          <a:p>
            <a:r>
              <a:rPr lang="bg-BG" sz="4400" b="1" dirty="0">
                <a:latin typeface="Georgia" panose="02040502050405020303" pitchFamily="18" charset="0"/>
              </a:rPr>
              <a:t>Проектиране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E9C5260-AECC-C8AB-62A6-5E9669A4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671485"/>
            <a:ext cx="8681884" cy="55060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 err="1">
                <a:latin typeface="Georgia" panose="02040502050405020303" pitchFamily="18" charset="0"/>
              </a:rPr>
              <a:t>Начална</a:t>
            </a:r>
            <a:r>
              <a:rPr lang="ru-RU" dirty="0">
                <a:latin typeface="Georgia" panose="02040502050405020303" pitchFamily="18" charset="0"/>
              </a:rPr>
              <a:t> страница</a:t>
            </a: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C36D347C-5FB6-8393-9D37-0A0DA0164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790634"/>
            <a:ext cx="2511796" cy="558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632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57BE235-88DE-1007-D87C-C33B957A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6" y="430895"/>
            <a:ext cx="8681883" cy="719479"/>
          </a:xfrm>
        </p:spPr>
        <p:txBody>
          <a:bodyPr>
            <a:noAutofit/>
          </a:bodyPr>
          <a:lstStyle/>
          <a:p>
            <a:r>
              <a:rPr lang="bg-BG" sz="4400" b="1" dirty="0">
                <a:latin typeface="Georgia" panose="02040502050405020303" pitchFamily="18" charset="0"/>
              </a:rPr>
              <a:t>Проектиране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E9C5260-AECC-C8AB-62A6-5E9669A4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671485"/>
            <a:ext cx="8681884" cy="55060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 err="1">
                <a:latin typeface="Georgia" panose="02040502050405020303" pitchFamily="18" charset="0"/>
              </a:rPr>
              <a:t>Добавяне</a:t>
            </a:r>
            <a:r>
              <a:rPr lang="ru-RU" dirty="0">
                <a:latin typeface="Georgia" panose="02040502050405020303" pitchFamily="18" charset="0"/>
              </a:rPr>
              <a:t> на </a:t>
            </a:r>
            <a:r>
              <a:rPr lang="ru-RU" dirty="0" err="1">
                <a:latin typeface="Georgia" panose="02040502050405020303" pitchFamily="18" charset="0"/>
              </a:rPr>
              <a:t>бележка</a:t>
            </a:r>
            <a:endParaRPr lang="ru-RU" dirty="0">
              <a:latin typeface="Georgia" panose="02040502050405020303" pitchFamily="18" charset="0"/>
            </a:endParaRP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6F202810-17F3-4AF9-E25A-BFCFBD74C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417" y="637200"/>
            <a:ext cx="2511796" cy="558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574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57BE235-88DE-1007-D87C-C33B957A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6" y="430895"/>
            <a:ext cx="8681883" cy="719479"/>
          </a:xfrm>
        </p:spPr>
        <p:txBody>
          <a:bodyPr>
            <a:noAutofit/>
          </a:bodyPr>
          <a:lstStyle/>
          <a:p>
            <a:r>
              <a:rPr lang="bg-BG" sz="4800" b="1" dirty="0">
                <a:latin typeface="Georgia" panose="02040502050405020303" pitchFamily="18" charset="0"/>
              </a:rPr>
              <a:t>Реализация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E9C5260-AECC-C8AB-62A6-5E9669A4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671484"/>
            <a:ext cx="8681884" cy="511277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000" dirty="0">
                <a:latin typeface="Georgia" panose="02040502050405020303" pitchFamily="18" charset="0"/>
              </a:rPr>
              <a:t>База </a:t>
            </a:r>
            <a:r>
              <a:rPr lang="ru-RU" sz="2000" dirty="0" err="1">
                <a:latin typeface="Georgia" panose="02040502050405020303" pitchFamily="18" charset="0"/>
              </a:rPr>
              <a:t>данни</a:t>
            </a:r>
            <a:r>
              <a:rPr lang="ru-RU" sz="2000" dirty="0">
                <a:latin typeface="Georgia" panose="02040502050405020303" pitchFamily="18" charset="0"/>
              </a:rPr>
              <a:t>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1800" dirty="0">
                <a:latin typeface="Georgia" panose="02040502050405020303" pitchFamily="18" charset="0"/>
              </a:rPr>
              <a:t>Потребители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1800" dirty="0" err="1">
                <a:latin typeface="Georgia" panose="02040502050405020303" pitchFamily="18" charset="0"/>
              </a:rPr>
              <a:t>Бележки</a:t>
            </a:r>
            <a:endParaRPr lang="ru-RU" sz="1800" dirty="0">
              <a:latin typeface="Georgia" panose="02040502050405020303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1800" dirty="0">
                <a:latin typeface="Georgia" panose="02040502050405020303" pitchFamily="18" charset="0"/>
              </a:rPr>
              <a:t>Категории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1800" dirty="0" err="1">
                <a:latin typeface="Georgia" panose="02040502050405020303" pitchFamily="18" charset="0"/>
              </a:rPr>
              <a:t>Тагове</a:t>
            </a:r>
            <a:endParaRPr lang="ru-RU" sz="1800" dirty="0">
              <a:latin typeface="Georgia" panose="02040502050405020303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1800" dirty="0" err="1">
                <a:latin typeface="Georgia" panose="02040502050405020303" pitchFamily="18" charset="0"/>
              </a:rPr>
              <a:t>Връзка</a:t>
            </a:r>
            <a:r>
              <a:rPr lang="ru-RU" sz="1800" dirty="0">
                <a:latin typeface="Georgia" panose="02040502050405020303" pitchFamily="18" charset="0"/>
              </a:rPr>
              <a:t> </a:t>
            </a:r>
            <a:r>
              <a:rPr lang="ru-RU" sz="1800" dirty="0" err="1">
                <a:latin typeface="Georgia" panose="02040502050405020303" pitchFamily="18" charset="0"/>
              </a:rPr>
              <a:t>бележка-таг</a:t>
            </a:r>
            <a:endParaRPr lang="ru-RU" sz="1800" dirty="0">
              <a:latin typeface="Georgia" panose="02040502050405020303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bg-BG" sz="1800" dirty="0">
                <a:latin typeface="Georgia" panose="02040502050405020303" pitchFamily="18" charset="0"/>
              </a:rPr>
              <a:t>Напомняния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bg-BG" sz="1800" dirty="0">
                <a:latin typeface="Georgia" panose="02040502050405020303" pitchFamily="18" charset="0"/>
              </a:rPr>
              <a:t>Прикачени файлове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bg-BG" sz="1800" dirty="0">
                <a:latin typeface="Georgia" panose="02040502050405020303" pitchFamily="18" charset="0"/>
              </a:rPr>
              <a:t>Потребителски настройки</a:t>
            </a: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BAADA2BC-0898-7CF8-19FC-C39C41310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251" y="1231200"/>
            <a:ext cx="5902749" cy="43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46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57BE235-88DE-1007-D87C-C33B957A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6" y="430895"/>
            <a:ext cx="8681883" cy="1049235"/>
          </a:xfrm>
        </p:spPr>
        <p:txBody>
          <a:bodyPr>
            <a:normAutofit/>
          </a:bodyPr>
          <a:lstStyle/>
          <a:p>
            <a:pPr algn="ctr"/>
            <a:r>
              <a:rPr lang="bg-BG" sz="4800" b="1" dirty="0">
                <a:latin typeface="Georgia" panose="02040502050405020303" pitchFamily="18" charset="0"/>
              </a:rPr>
              <a:t>Бъдещо развитие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E9C5260-AECC-C8AB-62A6-5E9669A4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2015732"/>
            <a:ext cx="8681884" cy="4168757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ru-RU" sz="2200" dirty="0">
                <a:latin typeface="Georgia" panose="02040502050405020303" pitchFamily="18" charset="0"/>
              </a:rPr>
              <a:t>Някои от </a:t>
            </a:r>
            <a:r>
              <a:rPr lang="ru-RU" sz="2200" dirty="0" err="1">
                <a:latin typeface="Georgia" panose="02040502050405020303" pitchFamily="18" charset="0"/>
              </a:rPr>
              <a:t>основните</a:t>
            </a:r>
            <a:r>
              <a:rPr lang="ru-RU" sz="2200" dirty="0">
                <a:latin typeface="Georgia" panose="02040502050405020303" pitchFamily="18" charset="0"/>
              </a:rPr>
              <a:t> </a:t>
            </a:r>
            <a:r>
              <a:rPr lang="ru-RU" sz="2200" dirty="0" err="1">
                <a:latin typeface="Georgia" panose="02040502050405020303" pitchFamily="18" charset="0"/>
              </a:rPr>
              <a:t>функционалности</a:t>
            </a:r>
            <a:r>
              <a:rPr lang="ru-RU" sz="2200" dirty="0">
                <a:latin typeface="Georgia" panose="02040502050405020303" pitchFamily="18" charset="0"/>
              </a:rPr>
              <a:t>, </a:t>
            </a:r>
            <a:r>
              <a:rPr lang="ru-RU" sz="2200" dirty="0" err="1">
                <a:latin typeface="Georgia" panose="02040502050405020303" pitchFamily="18" charset="0"/>
              </a:rPr>
              <a:t>предвидени</a:t>
            </a:r>
            <a:r>
              <a:rPr lang="ru-RU" sz="2200" dirty="0">
                <a:latin typeface="Georgia" panose="02040502050405020303" pitchFamily="18" charset="0"/>
              </a:rPr>
              <a:t> за </a:t>
            </a:r>
            <a:r>
              <a:rPr lang="ru-RU" sz="2200" dirty="0" err="1">
                <a:latin typeface="Georgia" panose="02040502050405020303" pitchFamily="18" charset="0"/>
              </a:rPr>
              <a:t>бъдеща</a:t>
            </a:r>
            <a:r>
              <a:rPr lang="ru-RU" sz="2200" dirty="0">
                <a:latin typeface="Georgia" panose="02040502050405020303" pitchFamily="18" charset="0"/>
              </a:rPr>
              <a:t> разработка, </a:t>
            </a:r>
            <a:r>
              <a:rPr lang="ru-RU" sz="2200" dirty="0" err="1">
                <a:latin typeface="Georgia" panose="02040502050405020303" pitchFamily="18" charset="0"/>
              </a:rPr>
              <a:t>са</a:t>
            </a:r>
            <a:r>
              <a:rPr lang="ru-RU" sz="2200" dirty="0">
                <a:latin typeface="Georgia" panose="02040502050405020303" pitchFamily="18" charset="0"/>
              </a:rPr>
              <a:t>:</a:t>
            </a:r>
          </a:p>
          <a:p>
            <a:pPr lvl="1" algn="just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ru-RU" sz="2200" dirty="0">
                <a:latin typeface="Georgia" panose="02040502050405020303" pitchFamily="18" charset="0"/>
              </a:rPr>
              <a:t>Създаване на версия за </a:t>
            </a:r>
            <a:r>
              <a:rPr lang="ru-RU" sz="2200" dirty="0" err="1">
                <a:latin typeface="Georgia" panose="02040502050405020303" pitchFamily="18" charset="0"/>
              </a:rPr>
              <a:t>iOS</a:t>
            </a:r>
            <a:r>
              <a:rPr lang="ru-RU" sz="2200" dirty="0">
                <a:latin typeface="Georgia" panose="02040502050405020303" pitchFamily="18" charset="0"/>
              </a:rPr>
              <a:t> с цел </a:t>
            </a:r>
            <a:r>
              <a:rPr lang="ru-RU" sz="2200" dirty="0" err="1">
                <a:latin typeface="Georgia" panose="02040502050405020303" pitchFamily="18" charset="0"/>
              </a:rPr>
              <a:t>осигуряване</a:t>
            </a:r>
            <a:r>
              <a:rPr lang="ru-RU" sz="2200" dirty="0">
                <a:latin typeface="Georgia" panose="02040502050405020303" pitchFamily="18" charset="0"/>
              </a:rPr>
              <a:t> на </a:t>
            </a:r>
            <a:r>
              <a:rPr lang="ru-RU" sz="2200" dirty="0" err="1">
                <a:latin typeface="Georgia" panose="02040502050405020303" pitchFamily="18" charset="0"/>
              </a:rPr>
              <a:t>по-широка</a:t>
            </a:r>
            <a:r>
              <a:rPr lang="ru-RU" sz="2200" dirty="0">
                <a:latin typeface="Georgia" panose="02040502050405020303" pitchFamily="18" charset="0"/>
              </a:rPr>
              <a:t> </a:t>
            </a:r>
            <a:r>
              <a:rPr lang="ru-RU" sz="2200" dirty="0" err="1">
                <a:latin typeface="Georgia" panose="02040502050405020303" pitchFamily="18" charset="0"/>
              </a:rPr>
              <a:t>достъпност</a:t>
            </a:r>
            <a:r>
              <a:rPr lang="ru-RU" sz="2200" dirty="0">
                <a:latin typeface="Georgia" panose="02040502050405020303" pitchFamily="18" charset="0"/>
              </a:rPr>
              <a:t> до </a:t>
            </a:r>
            <a:r>
              <a:rPr lang="ru-RU" sz="2200" dirty="0" err="1">
                <a:latin typeface="Georgia" panose="02040502050405020303" pitchFamily="18" charset="0"/>
              </a:rPr>
              <a:t>услугите</a:t>
            </a:r>
            <a:r>
              <a:rPr lang="ru-RU" sz="2200" dirty="0">
                <a:latin typeface="Georgia" panose="02040502050405020303" pitchFamily="18" charset="0"/>
              </a:rPr>
              <a:t> на </a:t>
            </a:r>
            <a:r>
              <a:rPr lang="ru-RU" sz="2200" dirty="0" err="1">
                <a:latin typeface="Georgia" panose="02040502050405020303" pitchFamily="18" charset="0"/>
              </a:rPr>
              <a:t>приложението</a:t>
            </a:r>
            <a:r>
              <a:rPr lang="ru-RU" sz="2200" dirty="0">
                <a:latin typeface="Georgia" panose="02040502050405020303" pitchFamily="18" charset="0"/>
              </a:rPr>
              <a:t>;</a:t>
            </a:r>
          </a:p>
          <a:p>
            <a:pPr lvl="1" algn="just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ru-RU" sz="2200" dirty="0">
                <a:latin typeface="Georgia" panose="02040502050405020303" pitchFamily="18" charset="0"/>
              </a:rPr>
              <a:t>Офлайн режим с </a:t>
            </a:r>
            <a:r>
              <a:rPr lang="ru-RU" sz="2200" dirty="0" err="1">
                <a:latin typeface="Georgia" panose="02040502050405020303" pitchFamily="18" charset="0"/>
              </a:rPr>
              <a:t>последваща</a:t>
            </a:r>
            <a:r>
              <a:rPr lang="ru-RU" sz="2200" dirty="0">
                <a:latin typeface="Georgia" panose="02040502050405020303" pitchFamily="18" charset="0"/>
              </a:rPr>
              <a:t> синхронизация;</a:t>
            </a:r>
          </a:p>
          <a:p>
            <a:pPr lvl="1" algn="just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ru-RU" sz="2200" dirty="0">
                <a:latin typeface="Georgia" panose="02040502050405020303" pitchFamily="18" charset="0"/>
              </a:rPr>
              <a:t>Интеграция с </a:t>
            </a:r>
            <a:r>
              <a:rPr lang="ru-RU" sz="2200" dirty="0" err="1">
                <a:latin typeface="Georgia" panose="02040502050405020303" pitchFamily="18" charset="0"/>
              </a:rPr>
              <a:t>други</a:t>
            </a:r>
            <a:r>
              <a:rPr lang="ru-RU" sz="2200" dirty="0">
                <a:latin typeface="Georgia" panose="02040502050405020303" pitchFamily="18" charset="0"/>
              </a:rPr>
              <a:t> </a:t>
            </a:r>
            <a:r>
              <a:rPr lang="ru-RU" sz="2200" dirty="0" err="1">
                <a:latin typeface="Georgia" panose="02040502050405020303" pitchFamily="18" charset="0"/>
              </a:rPr>
              <a:t>платформи</a:t>
            </a:r>
            <a:r>
              <a:rPr lang="ru-RU" sz="2200" dirty="0">
                <a:latin typeface="Georgia" panose="02040502050405020303" pitchFamily="18" charset="0"/>
              </a:rPr>
              <a:t>;</a:t>
            </a:r>
          </a:p>
          <a:p>
            <a:pPr lvl="1" algn="just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ru-RU" sz="2200" dirty="0" err="1">
                <a:latin typeface="Georgia" panose="02040502050405020303" pitchFamily="18" charset="0"/>
              </a:rPr>
              <a:t>Генериране</a:t>
            </a:r>
            <a:r>
              <a:rPr lang="ru-RU" sz="2200" dirty="0">
                <a:latin typeface="Georgia" panose="02040502050405020303" pitchFamily="18" charset="0"/>
              </a:rPr>
              <a:t> на статистически </a:t>
            </a:r>
            <a:r>
              <a:rPr lang="ru-RU" sz="2200" dirty="0" err="1">
                <a:latin typeface="Georgia" panose="02040502050405020303" pitchFamily="18" charset="0"/>
              </a:rPr>
              <a:t>данни</a:t>
            </a:r>
            <a:r>
              <a:rPr lang="ru-RU" sz="2200" dirty="0">
                <a:latin typeface="Georgia" panose="02040502050405020303" pitchFamily="18" charset="0"/>
              </a:rPr>
              <a:t> </a:t>
            </a:r>
            <a:r>
              <a:rPr lang="ru-RU" sz="2200" dirty="0" err="1">
                <a:latin typeface="Georgia" panose="02040502050405020303" pitchFamily="18" charset="0"/>
              </a:rPr>
              <a:t>относно</a:t>
            </a:r>
            <a:r>
              <a:rPr lang="ru-RU" sz="2200" dirty="0">
                <a:latin typeface="Georgia" panose="02040502050405020303" pitchFamily="18" charset="0"/>
              </a:rPr>
              <a:t> </a:t>
            </a:r>
            <a:r>
              <a:rPr lang="ru-RU" sz="2200" dirty="0" err="1">
                <a:latin typeface="Georgia" panose="02040502050405020303" pitchFamily="18" charset="0"/>
              </a:rPr>
              <a:t>активността</a:t>
            </a:r>
            <a:r>
              <a:rPr lang="ru-RU" sz="2200" dirty="0">
                <a:latin typeface="Georgia" panose="02040502050405020303" pitchFamily="18" charset="0"/>
              </a:rPr>
              <a:t> на </a:t>
            </a:r>
            <a:r>
              <a:rPr lang="ru-RU" sz="2200" dirty="0" err="1">
                <a:latin typeface="Georgia" panose="02040502050405020303" pitchFamily="18" charset="0"/>
              </a:rPr>
              <a:t>конкретни</a:t>
            </a:r>
            <a:r>
              <a:rPr lang="ru-RU" sz="2200" dirty="0">
                <a:latin typeface="Georgia" panose="02040502050405020303" pitchFamily="18" charset="0"/>
              </a:rPr>
              <a:t> потребители;</a:t>
            </a:r>
          </a:p>
        </p:txBody>
      </p:sp>
    </p:spTree>
    <p:extLst>
      <p:ext uri="{BB962C8B-B14F-4D97-AF65-F5344CB8AC3E}">
        <p14:creationId xmlns:p14="http://schemas.microsoft.com/office/powerpoint/2010/main" val="2188704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57BE235-88DE-1007-D87C-C33B957A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6" y="430895"/>
            <a:ext cx="8681883" cy="1049235"/>
          </a:xfrm>
        </p:spPr>
        <p:txBody>
          <a:bodyPr>
            <a:normAutofit/>
          </a:bodyPr>
          <a:lstStyle/>
          <a:p>
            <a:pPr algn="ctr"/>
            <a:r>
              <a:rPr lang="bg-BG" sz="4800" b="1" dirty="0">
                <a:latin typeface="Georgia" panose="02040502050405020303" pitchFamily="18" charset="0"/>
              </a:rPr>
              <a:t>Заключение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E9C5260-AECC-C8AB-62A6-5E9669A4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2015732"/>
            <a:ext cx="8681884" cy="416875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latin typeface="Georgia" panose="02040502050405020303" pitchFamily="18" charset="0"/>
              </a:rPr>
              <a:t>В заключение, </a:t>
            </a:r>
            <a:r>
              <a:rPr lang="ru-RU" dirty="0" err="1">
                <a:latin typeface="Georgia" panose="02040502050405020303" pitchFamily="18" charset="0"/>
              </a:rPr>
              <a:t>поставените</a:t>
            </a:r>
            <a:r>
              <a:rPr lang="ru-RU" dirty="0">
                <a:latin typeface="Georgia" panose="02040502050405020303" pitchFamily="18" charset="0"/>
              </a:rPr>
              <a:t> в </a:t>
            </a:r>
            <a:r>
              <a:rPr lang="ru-RU" dirty="0" err="1">
                <a:latin typeface="Georgia" panose="02040502050405020303" pitchFamily="18" charset="0"/>
              </a:rPr>
              <a:t>началото</a:t>
            </a:r>
            <a:r>
              <a:rPr lang="ru-RU" dirty="0">
                <a:latin typeface="Georgia" panose="02040502050405020303" pitchFamily="18" charset="0"/>
              </a:rPr>
              <a:t> на </a:t>
            </a:r>
            <a:r>
              <a:rPr lang="ru-RU" dirty="0" err="1">
                <a:latin typeface="Georgia" panose="02040502050405020303" pitchFamily="18" charset="0"/>
              </a:rPr>
              <a:t>дипломната</a:t>
            </a:r>
            <a:r>
              <a:rPr lang="ru-RU" dirty="0">
                <a:latin typeface="Georgia" panose="02040502050405020303" pitchFamily="18" charset="0"/>
              </a:rPr>
              <a:t> разработка цели </a:t>
            </a:r>
            <a:r>
              <a:rPr lang="ru-RU" dirty="0" err="1">
                <a:latin typeface="Georgia" panose="02040502050405020303" pitchFamily="18" charset="0"/>
              </a:rPr>
              <a:t>са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постигнати</a:t>
            </a:r>
            <a:r>
              <a:rPr lang="ru-RU" dirty="0">
                <a:latin typeface="Georgia" panose="02040502050405020303" pitchFamily="18" charset="0"/>
              </a:rPr>
              <a:t>. По </a:t>
            </a:r>
            <a:r>
              <a:rPr lang="ru-RU" dirty="0" err="1">
                <a:latin typeface="Georgia" panose="02040502050405020303" pitchFamily="18" charset="0"/>
              </a:rPr>
              <a:t>време</a:t>
            </a:r>
            <a:r>
              <a:rPr lang="ru-RU" dirty="0">
                <a:latin typeface="Georgia" panose="02040502050405020303" pitchFamily="18" charset="0"/>
              </a:rPr>
              <a:t> на </a:t>
            </a:r>
            <a:r>
              <a:rPr lang="ru-RU" dirty="0" err="1">
                <a:latin typeface="Georgia" panose="02040502050405020303" pitchFamily="18" charset="0"/>
              </a:rPr>
              <a:t>работата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бяха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анализирани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други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платформи</a:t>
            </a:r>
            <a:r>
              <a:rPr lang="ru-RU" dirty="0">
                <a:latin typeface="Georgia" panose="02040502050405020303" pitchFamily="18" charset="0"/>
              </a:rPr>
              <a:t> и сродни области, </a:t>
            </a:r>
            <a:r>
              <a:rPr lang="ru-RU" dirty="0" err="1">
                <a:latin typeface="Georgia" panose="02040502050405020303" pitchFamily="18" charset="0"/>
              </a:rPr>
              <a:t>което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допринесе</a:t>
            </a:r>
            <a:r>
              <a:rPr lang="ru-RU" dirty="0">
                <a:latin typeface="Georgia" panose="02040502050405020303" pitchFamily="18" charset="0"/>
              </a:rPr>
              <a:t> за </a:t>
            </a:r>
            <a:r>
              <a:rPr lang="ru-RU" dirty="0" err="1">
                <a:latin typeface="Georgia" panose="02040502050405020303" pitchFamily="18" charset="0"/>
              </a:rPr>
              <a:t>успешното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изпълнение</a:t>
            </a:r>
            <a:r>
              <a:rPr lang="ru-RU" dirty="0">
                <a:latin typeface="Georgia" panose="02040502050405020303" pitchFamily="18" charset="0"/>
              </a:rPr>
              <a:t> на </a:t>
            </a:r>
            <a:r>
              <a:rPr lang="ru-RU" dirty="0" err="1">
                <a:latin typeface="Georgia" panose="02040502050405020303" pitchFamily="18" charset="0"/>
              </a:rPr>
              <a:t>задачите</a:t>
            </a:r>
            <a:r>
              <a:rPr lang="ru-RU" dirty="0">
                <a:latin typeface="Georgia" panose="02040502050405020303" pitchFamily="18" charset="0"/>
              </a:rPr>
              <a:t> и за </a:t>
            </a:r>
            <a:r>
              <a:rPr lang="ru-RU" dirty="0" err="1">
                <a:latin typeface="Georgia" panose="02040502050405020303" pitchFamily="18" charset="0"/>
              </a:rPr>
              <a:t>усъвършенстване</a:t>
            </a:r>
            <a:r>
              <a:rPr lang="ru-RU" dirty="0">
                <a:latin typeface="Georgia" panose="02040502050405020303" pitchFamily="18" charset="0"/>
              </a:rPr>
              <a:t> на </a:t>
            </a:r>
            <a:r>
              <a:rPr lang="ru-RU" dirty="0" err="1">
                <a:latin typeface="Georgia" panose="02040502050405020303" pitchFamily="18" charset="0"/>
              </a:rPr>
              <a:t>крайния</a:t>
            </a:r>
            <a:r>
              <a:rPr lang="ru-RU" dirty="0">
                <a:latin typeface="Georgia" panose="02040502050405020303" pitchFamily="18" charset="0"/>
              </a:rPr>
              <a:t> продукт. </a:t>
            </a:r>
            <a:r>
              <a:rPr lang="ru-RU" dirty="0" err="1">
                <a:latin typeface="Georgia" panose="02040502050405020303" pitchFamily="18" charset="0"/>
              </a:rPr>
              <a:t>Същевременно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бяха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очертани</a:t>
            </a:r>
            <a:r>
              <a:rPr lang="ru-RU" dirty="0">
                <a:latin typeface="Georgia" panose="02040502050405020303" pitchFamily="18" charset="0"/>
              </a:rPr>
              <a:t> и важни </a:t>
            </a:r>
            <a:r>
              <a:rPr lang="ru-RU" dirty="0" err="1">
                <a:latin typeface="Georgia" panose="02040502050405020303" pitchFamily="18" charset="0"/>
              </a:rPr>
              <a:t>насоки</a:t>
            </a:r>
            <a:r>
              <a:rPr lang="ru-RU" dirty="0">
                <a:latin typeface="Georgia" panose="02040502050405020303" pitchFamily="18" charset="0"/>
              </a:rPr>
              <a:t> за </a:t>
            </a:r>
            <a:r>
              <a:rPr lang="ru-RU" dirty="0" err="1">
                <a:latin typeface="Georgia" panose="02040502050405020303" pitchFamily="18" charset="0"/>
              </a:rPr>
              <a:t>бъдещо</a:t>
            </a:r>
            <a:r>
              <a:rPr lang="ru-RU" dirty="0">
                <a:latin typeface="Georgia" panose="02040502050405020303" pitchFamily="18" charset="0"/>
              </a:rPr>
              <a:t> развитие в </a:t>
            </a:r>
            <a:r>
              <a:rPr lang="ru-RU" dirty="0" err="1">
                <a:latin typeface="Georgia" panose="02040502050405020303" pitchFamily="18" charset="0"/>
              </a:rPr>
              <a:t>разглежданата</a:t>
            </a:r>
            <a:r>
              <a:rPr lang="ru-RU" dirty="0">
                <a:latin typeface="Georgia" panose="02040502050405020303" pitchFamily="18" charset="0"/>
              </a:rPr>
              <a:t> </a:t>
            </a:r>
            <a:r>
              <a:rPr lang="ru-RU" dirty="0" err="1">
                <a:latin typeface="Georgia" panose="02040502050405020303" pitchFamily="18" charset="0"/>
              </a:rPr>
              <a:t>област</a:t>
            </a:r>
            <a:r>
              <a:rPr lang="ru-RU" dirty="0">
                <a:latin typeface="Georgia" panose="020405020504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3304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BE07390C-D0E3-7299-ACB8-7054FC4586C1}"/>
              </a:ext>
            </a:extLst>
          </p:cNvPr>
          <p:cNvSpPr txBox="1"/>
          <p:nvPr/>
        </p:nvSpPr>
        <p:spPr>
          <a:xfrm>
            <a:off x="963561" y="1140542"/>
            <a:ext cx="72267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5400" b="1" dirty="0">
                <a:solidFill>
                  <a:schemeClr val="accent1"/>
                </a:solidFill>
                <a:latin typeface="Georgia" panose="02040502050405020303" pitchFamily="18" charset="0"/>
              </a:rPr>
              <a:t>Благодаря Ви </a:t>
            </a:r>
          </a:p>
          <a:p>
            <a:pPr algn="ctr"/>
            <a:r>
              <a:rPr lang="bg-BG" sz="5400" b="1" dirty="0">
                <a:solidFill>
                  <a:schemeClr val="accent1"/>
                </a:solidFill>
                <a:latin typeface="Georgia" panose="02040502050405020303" pitchFamily="18" charset="0"/>
              </a:rPr>
              <a:t>за </a:t>
            </a:r>
          </a:p>
          <a:p>
            <a:pPr algn="ctr"/>
            <a:r>
              <a:rPr lang="bg-BG" sz="5400" b="1" dirty="0">
                <a:solidFill>
                  <a:schemeClr val="accent1"/>
                </a:solidFill>
                <a:latin typeface="Georgia" panose="02040502050405020303" pitchFamily="18" charset="0"/>
              </a:rPr>
              <a:t>вниманието!</a:t>
            </a:r>
          </a:p>
        </p:txBody>
      </p:sp>
      <p:sp>
        <p:nvSpPr>
          <p:cNvPr id="3" name="Усмихнато лице 2">
            <a:extLst>
              <a:ext uri="{FF2B5EF4-FFF2-40B4-BE49-F238E27FC236}">
                <a16:creationId xmlns:a16="http://schemas.microsoft.com/office/drawing/2014/main" id="{3C1263BF-0A05-2606-1878-1C56BAF630C4}"/>
              </a:ext>
            </a:extLst>
          </p:cNvPr>
          <p:cNvSpPr/>
          <p:nvPr/>
        </p:nvSpPr>
        <p:spPr>
          <a:xfrm>
            <a:off x="7049729" y="2920181"/>
            <a:ext cx="816077" cy="717754"/>
          </a:xfrm>
          <a:prstGeom prst="smileyFace">
            <a:avLst/>
          </a:prstGeom>
          <a:solidFill>
            <a:schemeClr val="accent1">
              <a:alpha val="65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0000" endA="300" endPos="90000" dist="50800" dir="5400000" sy="-100000" algn="bl" rotWithShape="0"/>
          </a:effectLst>
          <a:scene3d>
            <a:camera prst="isometricOffAxis2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356131"/>
      </p:ext>
    </p:extLst>
  </p:cSld>
  <p:clrMapOvr>
    <a:masterClrMapping/>
  </p:clrMapOvr>
</p:sld>
</file>

<file path=ppt/theme/theme1.xml><?xml version="1.0" encoding="utf-8"?>
<a:theme xmlns:a="http://schemas.openxmlformats.org/drawingml/2006/main" name="Фасети">
  <a:themeElements>
    <a:clrScheme name="Фасети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Фасети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Фасети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160</TotalTime>
  <Words>566</Words>
  <Application>Microsoft Office PowerPoint</Application>
  <PresentationFormat>Презентация на цял екран (4:3)</PresentationFormat>
  <Paragraphs>67</Paragraphs>
  <Slides>16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16</vt:i4>
      </vt:variant>
    </vt:vector>
  </HeadingPairs>
  <TitlesOfParts>
    <vt:vector size="22" baseType="lpstr">
      <vt:lpstr>Arial</vt:lpstr>
      <vt:lpstr>Georgia</vt:lpstr>
      <vt:lpstr>Trebuchet MS</vt:lpstr>
      <vt:lpstr>Wingdings</vt:lpstr>
      <vt:lpstr>Wingdings 3</vt:lpstr>
      <vt:lpstr>Фасети</vt:lpstr>
      <vt:lpstr>Мобилно приложение за по-добра oрганизираност чрез бележки – Flutter Notes</vt:lpstr>
      <vt:lpstr>Резюме</vt:lpstr>
      <vt:lpstr>Цели и задачи на разработката</vt:lpstr>
      <vt:lpstr>Цели и задачи на разработката</vt:lpstr>
      <vt:lpstr>Структура на дипломната работа</vt:lpstr>
      <vt:lpstr>Актуалност</vt:lpstr>
      <vt:lpstr>Актуалност</vt:lpstr>
      <vt:lpstr>Използвани технологии</vt:lpstr>
      <vt:lpstr>Проектиране</vt:lpstr>
      <vt:lpstr>Проектиране</vt:lpstr>
      <vt:lpstr>Проектиране</vt:lpstr>
      <vt:lpstr>Проектиране</vt:lpstr>
      <vt:lpstr>Реализация</vt:lpstr>
      <vt:lpstr>Бъдещо развитие</vt:lpstr>
      <vt:lpstr>Заключение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 medarov</dc:creator>
  <cp:lastModifiedBy>grigor medarov</cp:lastModifiedBy>
  <cp:revision>28</cp:revision>
  <dcterms:created xsi:type="dcterms:W3CDTF">2026-06-28T14:05:23Z</dcterms:created>
  <dcterms:modified xsi:type="dcterms:W3CDTF">2026-09-24T12:27:34Z</dcterms:modified>
</cp:coreProperties>
</file>